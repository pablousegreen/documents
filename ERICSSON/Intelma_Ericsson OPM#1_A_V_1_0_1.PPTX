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73" r:id="rId2"/>
    <p:sldId id="257" r:id="rId3"/>
    <p:sldId id="285" r:id="rId4"/>
    <p:sldId id="265" r:id="rId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228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457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685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9144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11430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1371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1600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1828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  <p:extLst>
    <p:ext uri="{521415D9-36F7-43E2-AB2F-B90AF26B5E84}">
      <p14:sectionLst xmlns:p14="http://schemas.microsoft.com/office/powerpoint/2010/main">
        <p14:section name="Default Section" id="{E628FBBA-AC46-4ABF-A68E-10760CFE6EF3}">
          <p14:sldIdLst>
            <p14:sldId id="273"/>
            <p14:sldId id="257"/>
            <p14:sldId id="285"/>
          </p14:sldIdLst>
        </p14:section>
        <p14:section name="Untitled Section" id="{425B6C2C-2493-40E7-BD87-7EDBCB50417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1"/>
              <a:lumOff val="-7254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239254"/>
              <a:lumOff val="-1399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889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47882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222222"/>
              </a:solidFill>
              <a:prstDash val="solid"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22222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660"/>
  </p:normalViewPr>
  <p:slideViewPr>
    <p:cSldViewPr snapToGrid="0">
      <p:cViewPr varScale="1">
        <p:scale>
          <a:sx n="28" d="100"/>
          <a:sy n="28" d="100"/>
        </p:scale>
        <p:origin x="13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7" name="Shape 16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2422740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7" name="Shape 1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310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8243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ítulo y subtítul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ínea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" name="Texto del título"/>
          <p:cNvSpPr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Texto del título</a:t>
            </a:r>
          </a:p>
        </p:txBody>
      </p:sp>
      <p:sp>
        <p:nvSpPr>
          <p:cNvPr id="13" name="Nivel de texto 1…"/>
          <p:cNvSpPr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2286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4572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6858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9144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4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63199" y="609600"/>
            <a:ext cx="553196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(horizontal)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magen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Línea"/>
          <p:cNvSpPr>
            <a:spLocks noGrp="1"/>
          </p:cNvSpPr>
          <p:nvPr>
            <p:ph type="body" sz="quarter" idx="14"/>
          </p:nvPr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</a:ln>
        </p:spPr>
        <p:txBody>
          <a:bodyPr anchor="ctr">
            <a:noAutofit/>
          </a:bodyPr>
          <a:lstStyle/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" name="Texto del título"/>
          <p:cNvSpPr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Texto del título</a:t>
            </a:r>
          </a:p>
        </p:txBody>
      </p:sp>
      <p:sp>
        <p:nvSpPr>
          <p:cNvPr id="24" name="Nivel de texto 1…"/>
          <p:cNvSpPr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2286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4572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6858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9144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5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63199" y="609600"/>
            <a:ext cx="553196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subtítulo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ínea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3" name="Texto del título"/>
          <p:cNvSpPr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Texto del título</a:t>
            </a:r>
          </a:p>
        </p:txBody>
      </p:sp>
      <p:sp>
        <p:nvSpPr>
          <p:cNvPr id="34" name="Nivel de texto 1…"/>
          <p:cNvSpPr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2286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4572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6858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9144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5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13221" y="5842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(centro)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o del título"/>
          <p:cNvSpPr>
            <a:spLocks noGrp="1"/>
          </p:cNvSpPr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Texto del título</a:t>
            </a:r>
          </a:p>
        </p:txBody>
      </p:sp>
      <p:sp>
        <p:nvSpPr>
          <p:cNvPr id="43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63199" y="609600"/>
            <a:ext cx="553196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(vertical)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Línea"/>
          <p:cNvSpPr/>
          <p:nvPr/>
        </p:nvSpPr>
        <p:spPr>
          <a:xfrm flipV="1">
            <a:off x="11049000" y="8635798"/>
            <a:ext cx="12572997" cy="203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" name="Imagen"/>
          <p:cNvSpPr>
            <a:spLocks noGrp="1"/>
          </p:cNvSpPr>
          <p:nvPr>
            <p:ph type="pic" idx="13"/>
          </p:nvPr>
        </p:nvSpPr>
        <p:spPr>
          <a:xfrm>
            <a:off x="0" y="0"/>
            <a:ext cx="10287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2" name="Texto del título"/>
          <p:cNvSpPr>
            <a:spLocks noGrp="1"/>
          </p:cNvSpPr>
          <p:nvPr>
            <p:ph type="title"/>
          </p:nvPr>
        </p:nvSpPr>
        <p:spPr>
          <a:xfrm>
            <a:off x="11049000" y="9042400"/>
            <a:ext cx="12573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Texto del título</a:t>
            </a:r>
          </a:p>
        </p:txBody>
      </p:sp>
      <p:sp>
        <p:nvSpPr>
          <p:cNvPr id="53" name="Nivel de texto 1…"/>
          <p:cNvSpPr>
            <a:spLocks noGrp="1"/>
          </p:cNvSpPr>
          <p:nvPr>
            <p:ph type="body" sz="quarter" idx="1"/>
          </p:nvPr>
        </p:nvSpPr>
        <p:spPr>
          <a:xfrm>
            <a:off x="11049000" y="5994400"/>
            <a:ext cx="12573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2286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4572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6858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9144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4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63199" y="609600"/>
            <a:ext cx="553196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(arrib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o"/>
          <p:cNvSpPr>
            <a:spLocks noGrp="1"/>
          </p:cNvSpPr>
          <p:nvPr>
            <p:ph type="body" sz="quarter" idx="1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62" name="Texto del título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63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viñeta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Línea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1" name="Texto"/>
          <p:cNvSpPr>
            <a:spLocks noGrp="1"/>
          </p:cNvSpPr>
          <p:nvPr>
            <p:ph type="body" sz="quarter" idx="1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72" name="Texto del título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73" name="Nivel de texto 1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4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viñetas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o del título"/>
          <p:cNvSpPr>
            <a:spLocks noGrp="1"/>
          </p:cNvSpPr>
          <p:nvPr>
            <p:ph type="title"/>
          </p:nvPr>
        </p:nvSpPr>
        <p:spPr>
          <a:xfrm>
            <a:off x="513183" y="942564"/>
            <a:ext cx="22860001" cy="1016001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82" name="Nivel de texto 1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pic>
        <p:nvPicPr>
          <p:cNvPr id="83" name="pasted-image.pdf" descr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10755078"/>
            <a:ext cx="24384001" cy="2975444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viñetas y fot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Línea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" name="Texto"/>
          <p:cNvSpPr>
            <a:spLocks noGrp="1"/>
          </p:cNvSpPr>
          <p:nvPr>
            <p:ph type="body" sz="quarter" idx="1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93" name="Imagen"/>
          <p:cNvSpPr>
            <a:spLocks noGrp="1"/>
          </p:cNvSpPr>
          <p:nvPr>
            <p:ph type="pic" sz="half" idx="14"/>
          </p:nvPr>
        </p:nvSpPr>
        <p:spPr>
          <a:xfrm>
            <a:off x="13335000" y="2159000"/>
            <a:ext cx="10287000" cy="10795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4" name="Texto del título"/>
          <p:cNvSpPr>
            <a:spLocks noGrp="1"/>
          </p:cNvSpPr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95" name="Nivel de texto 1…"/>
          <p:cNvSpPr>
            <a:spLocks noGrp="1"/>
          </p:cNvSpPr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4000"/>
            </a:lvl1pPr>
            <a:lvl2pPr>
              <a:buClr>
                <a:schemeClr val="accent1"/>
              </a:buClr>
              <a:buChar char="▸"/>
              <a:defRPr sz="4000"/>
            </a:lvl2pPr>
            <a:lvl3pPr>
              <a:buClr>
                <a:schemeClr val="accent1"/>
              </a:buClr>
              <a:buChar char="▸"/>
              <a:defRPr sz="4000"/>
            </a:lvl3pPr>
            <a:lvl4pPr>
              <a:buClr>
                <a:schemeClr val="accent1"/>
              </a:buClr>
              <a:buChar char="▸"/>
              <a:defRPr sz="4000"/>
            </a:lvl4pPr>
            <a:lvl5pPr>
              <a:buClr>
                <a:schemeClr val="accent1"/>
              </a:buClr>
              <a:buChar char="▸"/>
              <a:defRPr sz="40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96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ñeta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Línea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4" name="Texto"/>
          <p:cNvSpPr>
            <a:spLocks noGrp="1"/>
          </p:cNvSpPr>
          <p:nvPr>
            <p:ph type="body" sz="quarter" idx="1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05" name="Nivel de texto 1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SzPct val="125000"/>
              <a:buChar char="▸"/>
            </a:lvl1pPr>
            <a:lvl2pPr>
              <a:buClr>
                <a:schemeClr val="accent1"/>
              </a:buClr>
              <a:buSzPct val="125000"/>
              <a:buChar char="▸"/>
            </a:lvl2pPr>
            <a:lvl3pPr>
              <a:buClr>
                <a:schemeClr val="accent1"/>
              </a:buClr>
              <a:buSzPct val="125000"/>
              <a:buChar char="▸"/>
            </a:lvl3pPr>
            <a:lvl4pPr>
              <a:buClr>
                <a:schemeClr val="accent1"/>
              </a:buClr>
              <a:buSzPct val="125000"/>
              <a:buChar char="▸"/>
            </a:lvl4pPr>
            <a:lvl5pPr>
              <a:buClr>
                <a:schemeClr val="accent1"/>
              </a:buClr>
              <a:buSzPct val="125000"/>
              <a:buChar char="▸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06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foto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Imagen"/>
          <p:cNvSpPr>
            <a:spLocks noGrp="1"/>
          </p:cNvSpPr>
          <p:nvPr>
            <p:ph type="pic" sz="half" idx="13"/>
          </p:nvPr>
        </p:nvSpPr>
        <p:spPr>
          <a:xfrm>
            <a:off x="12192000" y="0"/>
            <a:ext cx="12192000" cy="683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4" name="Imagen"/>
          <p:cNvSpPr>
            <a:spLocks noGrp="1"/>
          </p:cNvSpPr>
          <p:nvPr>
            <p:ph type="pic" sz="half" idx="14"/>
          </p:nvPr>
        </p:nvSpPr>
        <p:spPr>
          <a:xfrm>
            <a:off x="12192000" y="6896100"/>
            <a:ext cx="12192000" cy="6819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5" name="Imagen"/>
          <p:cNvSpPr>
            <a:spLocks noGrp="1"/>
          </p:cNvSpPr>
          <p:nvPr>
            <p:ph type="pic" idx="15"/>
          </p:nvPr>
        </p:nvSpPr>
        <p:spPr>
          <a:xfrm>
            <a:off x="0" y="0"/>
            <a:ext cx="121285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6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Línea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4" name="Bocadillo cuadrado"/>
          <p:cNvSpPr/>
          <p:nvPr/>
        </p:nvSpPr>
        <p:spPr>
          <a:xfrm>
            <a:off x="876300" y="3314700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pPr>
            <a:endParaRPr/>
          </a:p>
        </p:txBody>
      </p:sp>
      <p:sp>
        <p:nvSpPr>
          <p:cNvPr id="125" name="Escribir una cita aquí"/>
          <p:cNvSpPr>
            <a:spLocks noGrp="1"/>
          </p:cNvSpPr>
          <p:nvPr>
            <p:ph type="body" sz="quarter" idx="13"/>
          </p:nvPr>
        </p:nvSpPr>
        <p:spPr>
          <a:xfrm>
            <a:off x="1676400" y="4089400"/>
            <a:ext cx="210566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34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Escribir una cita aquí</a:t>
            </a:r>
          </a:p>
        </p:txBody>
      </p:sp>
      <p:sp>
        <p:nvSpPr>
          <p:cNvPr id="126" name="Juan López"/>
          <p:cNvSpPr>
            <a:spLocks noGrp="1"/>
          </p:cNvSpPr>
          <p:nvPr>
            <p:ph type="body" sz="quarter" idx="14"/>
          </p:nvPr>
        </p:nvSpPr>
        <p:spPr>
          <a:xfrm>
            <a:off x="762000" y="10953750"/>
            <a:ext cx="22860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8700"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Juan López</a:t>
            </a:r>
          </a:p>
        </p:txBody>
      </p:sp>
      <p:sp>
        <p:nvSpPr>
          <p:cNvPr id="127" name="Texto"/>
          <p:cNvSpPr>
            <a:spLocks noGrp="1"/>
          </p:cNvSpPr>
          <p:nvPr>
            <p:ph type="body" sz="quarter" idx="15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28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 alt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Escribir una cita aquí"/>
          <p:cNvSpPr>
            <a:spLocks noGrp="1"/>
          </p:cNvSpPr>
          <p:nvPr>
            <p:ph type="body" sz="quarter" idx="13"/>
          </p:nvPr>
        </p:nvSpPr>
        <p:spPr>
          <a:xfrm>
            <a:off x="11049000" y="3721100"/>
            <a:ext cx="12573000" cy="3509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34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Escribir una cita aquí</a:t>
            </a:r>
          </a:p>
        </p:txBody>
      </p:sp>
      <p:sp>
        <p:nvSpPr>
          <p:cNvPr id="136" name="Imagen"/>
          <p:cNvSpPr>
            <a:spLocks noGrp="1"/>
          </p:cNvSpPr>
          <p:nvPr>
            <p:ph type="pic" idx="14"/>
          </p:nvPr>
        </p:nvSpPr>
        <p:spPr>
          <a:xfrm>
            <a:off x="0" y="0"/>
            <a:ext cx="10287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7" name="Juan López"/>
          <p:cNvSpPr>
            <a:spLocks noGrp="1"/>
          </p:cNvSpPr>
          <p:nvPr>
            <p:ph type="body" sz="quarter" idx="15"/>
          </p:nvPr>
        </p:nvSpPr>
        <p:spPr>
          <a:xfrm>
            <a:off x="11049000" y="10953750"/>
            <a:ext cx="12573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defTabSz="647700">
              <a:spcBef>
                <a:spcPts val="0"/>
              </a:spcBef>
              <a:buClrTx/>
              <a:buSzTx/>
              <a:buFontTx/>
              <a:buNone/>
              <a:defRPr sz="8700">
                <a:solidFill>
                  <a:srgbClr val="232323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Juan López</a:t>
            </a:r>
          </a:p>
        </p:txBody>
      </p:sp>
      <p:sp>
        <p:nvSpPr>
          <p:cNvPr id="138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Imagen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3" name="Nivel de texto 1…"/>
          <p:cNvSpPr>
            <a:spLocks noGrp="1"/>
          </p:cNvSpPr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36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1pPr>
      <a:lvl2pPr marL="0" marR="0" indent="2286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2pPr>
      <a:lvl3pPr marL="0" marR="0" indent="4572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3pPr>
      <a:lvl4pPr marL="0" marR="0" indent="6858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4pPr>
      <a:lvl5pPr marL="0" marR="0" indent="9144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5pPr>
      <a:lvl6pPr marL="0" marR="0" indent="11430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6pPr>
      <a:lvl7pPr marL="0" marR="0" indent="13716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7pPr>
      <a:lvl8pPr marL="0" marR="0" indent="16002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8pPr>
      <a:lvl9pPr marL="0" marR="0" indent="18288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1270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905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2540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3175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3810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4445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5080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5715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1pPr>
      <a:lvl2pPr marL="0" marR="0" indent="228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2pPr>
      <a:lvl3pPr marL="0" marR="0" indent="457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3pPr>
      <a:lvl4pPr marL="0" marR="0" indent="685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4pPr>
      <a:lvl5pPr marL="0" marR="0" indent="9144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5pPr>
      <a:lvl6pPr marL="0" marR="0" indent="11430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6pPr>
      <a:lvl7pPr marL="0" marR="0" indent="1371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7pPr>
      <a:lvl8pPr marL="0" marR="0" indent="1600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8pPr>
      <a:lvl9pPr marL="0" marR="0" indent="1828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4" Type="http://schemas.openxmlformats.org/officeDocument/2006/relationships/hyperlink" Target="http://intelma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Shape 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6600" y="5372100"/>
            <a:ext cx="102108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Shape 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864780"/>
            <a:ext cx="24384000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56530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asted-image.pdf" descr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591348" cy="88966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logo.png" descr="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273737" y="2077070"/>
            <a:ext cx="5836526" cy="2849867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Agenda"/>
          <p:cNvSpPr/>
          <p:nvPr/>
        </p:nvSpPr>
        <p:spPr>
          <a:xfrm>
            <a:off x="6929740" y="8678631"/>
            <a:ext cx="10731867" cy="3247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8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pt-BR" sz="8800" b="1" dirty="0" smtClean="0">
                <a:solidFill>
                  <a:srgbClr val="00B0F0"/>
                </a:solidFill>
              </a:rPr>
              <a:t>OPM – E</a:t>
            </a:r>
            <a:r>
              <a:rPr lang="pt-BR" sz="8800" b="1" dirty="0" smtClean="0">
                <a:solidFill>
                  <a:schemeClr val="tx2"/>
                </a:solidFill>
              </a:rPr>
              <a:t>ricsson</a:t>
            </a:r>
          </a:p>
          <a:p>
            <a:pPr algn="ctr"/>
            <a:r>
              <a:rPr lang="pt-BR" sz="8800" b="1" dirty="0" err="1" smtClean="0">
                <a:solidFill>
                  <a:srgbClr val="00B0F0"/>
                </a:solidFill>
              </a:rPr>
              <a:t>P</a:t>
            </a:r>
            <a:r>
              <a:rPr lang="pt-BR" sz="8800" b="1" dirty="0" err="1" smtClean="0">
                <a:solidFill>
                  <a:schemeClr val="tx2"/>
                </a:solidFill>
              </a:rPr>
              <a:t>lugin</a:t>
            </a:r>
            <a:endParaRPr sz="88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push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46"/>
          <p:cNvSpPr>
            <a:spLocks noChangeArrowheads="1"/>
          </p:cNvSpPr>
          <p:nvPr/>
        </p:nvSpPr>
        <p:spPr bwMode="gray">
          <a:xfrm>
            <a:off x="15198517" y="13036293"/>
            <a:ext cx="3906402" cy="309972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Planned delivery at risk</a:t>
            </a:r>
          </a:p>
        </p:txBody>
      </p:sp>
      <p:sp>
        <p:nvSpPr>
          <p:cNvPr id="177" name="Objetivo"/>
          <p:cNvSpPr>
            <a:spLocks noGrp="1"/>
          </p:cNvSpPr>
          <p:nvPr>
            <p:ph type="title"/>
          </p:nvPr>
        </p:nvSpPr>
        <p:spPr>
          <a:xfrm>
            <a:off x="513183" y="913989"/>
            <a:ext cx="22860001" cy="1016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 fontScale="90000"/>
          </a:bodyPr>
          <a:lstStyle/>
          <a:p>
            <a:pPr defTabSz="652145" hangingPunct="0">
              <a:lnSpc>
                <a:spcPct val="100000"/>
              </a:lnSpc>
              <a:spcBef>
                <a:spcPts val="3000"/>
              </a:spcBef>
            </a:pPr>
            <a:r>
              <a:rPr lang="pt-BR" sz="6873" dirty="0" err="1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Summary</a:t>
            </a:r>
            <a:r>
              <a:rPr lang="pt-BR" sz="6873" dirty="0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 – </a:t>
            </a:r>
            <a:r>
              <a:rPr lang="pt-BR" sz="6873" dirty="0" err="1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one</a:t>
            </a:r>
            <a:r>
              <a:rPr lang="pt-BR" sz="6873" dirty="0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 </a:t>
            </a:r>
            <a:r>
              <a:rPr lang="pt-BR" sz="6873" dirty="0" err="1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page</a:t>
            </a:r>
            <a:r>
              <a:rPr lang="pt-BR" sz="6873" dirty="0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 </a:t>
            </a:r>
            <a:r>
              <a:rPr lang="pt-BR" sz="6873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– </a:t>
            </a:r>
            <a:r>
              <a:rPr lang="pt-BR" sz="6873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W16</a:t>
            </a:r>
            <a:endParaRPr sz="6873" dirty="0">
              <a:solidFill>
                <a:srgbClr val="00B0F0"/>
              </a:solidFill>
              <a:latin typeface="Arial Black"/>
              <a:ea typeface="Arial Black"/>
              <a:cs typeface="Arial Black"/>
              <a:sym typeface="Avenir Next Medium"/>
            </a:endParaRPr>
          </a:p>
        </p:txBody>
      </p:sp>
      <p:pic>
        <p:nvPicPr>
          <p:cNvPr id="5" name="Shape 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40425" y="693326"/>
            <a:ext cx="4981575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2425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3" name="Rectangle 2"/>
          <p:cNvSpPr>
            <a:spLocks noChangeArrowheads="1"/>
          </p:cNvSpPr>
          <p:nvPr/>
        </p:nvSpPr>
        <p:spPr bwMode="gray">
          <a:xfrm>
            <a:off x="16663418" y="7647298"/>
            <a:ext cx="4883002" cy="5275983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144" name="Rectangle 42"/>
          <p:cNvSpPr>
            <a:spLocks noChangeArrowheads="1"/>
          </p:cNvSpPr>
          <p:nvPr/>
        </p:nvSpPr>
        <p:spPr bwMode="gray">
          <a:xfrm>
            <a:off x="9501681" y="13013689"/>
            <a:ext cx="976600" cy="348719"/>
          </a:xfrm>
          <a:prstGeom prst="rect">
            <a:avLst/>
          </a:prstGeom>
          <a:solidFill>
            <a:srgbClr val="0099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Green</a:t>
            </a:r>
          </a:p>
        </p:txBody>
      </p:sp>
      <p:sp>
        <p:nvSpPr>
          <p:cNvPr id="145" name="Rectangle 43"/>
          <p:cNvSpPr>
            <a:spLocks noChangeArrowheads="1"/>
          </p:cNvSpPr>
          <p:nvPr/>
        </p:nvSpPr>
        <p:spPr bwMode="gray">
          <a:xfrm>
            <a:off x="14059150" y="13036293"/>
            <a:ext cx="1139367" cy="309972"/>
          </a:xfrm>
          <a:prstGeom prst="rect">
            <a:avLst/>
          </a:prstGeom>
          <a:solidFill>
            <a:srgbClr val="FFCC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Yellow</a:t>
            </a:r>
          </a:p>
        </p:txBody>
      </p:sp>
      <p:sp>
        <p:nvSpPr>
          <p:cNvPr id="146" name="Rectangle 44"/>
          <p:cNvSpPr>
            <a:spLocks noChangeArrowheads="1"/>
          </p:cNvSpPr>
          <p:nvPr/>
        </p:nvSpPr>
        <p:spPr bwMode="gray">
          <a:xfrm>
            <a:off x="17802785" y="13013689"/>
            <a:ext cx="976600" cy="309972"/>
          </a:xfrm>
          <a:prstGeom prst="rect">
            <a:avLst/>
          </a:prstGeom>
          <a:solidFill>
            <a:srgbClr val="C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Red</a:t>
            </a:r>
          </a:p>
        </p:txBody>
      </p:sp>
      <p:sp>
        <p:nvSpPr>
          <p:cNvPr id="147" name="Rectangle 45"/>
          <p:cNvSpPr>
            <a:spLocks noChangeArrowheads="1"/>
          </p:cNvSpPr>
          <p:nvPr/>
        </p:nvSpPr>
        <p:spPr bwMode="gray">
          <a:xfrm>
            <a:off x="10478282" y="13036293"/>
            <a:ext cx="3580868" cy="30997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On track; will complete as planned</a:t>
            </a:r>
          </a:p>
        </p:txBody>
      </p:sp>
      <p:sp>
        <p:nvSpPr>
          <p:cNvPr id="149" name="Rectangle 84"/>
          <p:cNvSpPr>
            <a:spLocks noChangeArrowheads="1"/>
          </p:cNvSpPr>
          <p:nvPr/>
        </p:nvSpPr>
        <p:spPr bwMode="gray">
          <a:xfrm>
            <a:off x="6222611" y="13036293"/>
            <a:ext cx="3279070" cy="32611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Originally planned or completed activity</a:t>
            </a:r>
          </a:p>
        </p:txBody>
      </p:sp>
      <p:sp>
        <p:nvSpPr>
          <p:cNvPr id="150" name="Text Box 85"/>
          <p:cNvSpPr txBox="1">
            <a:spLocks noChangeArrowheads="1"/>
          </p:cNvSpPr>
          <p:nvPr/>
        </p:nvSpPr>
        <p:spPr bwMode="auto">
          <a:xfrm>
            <a:off x="2339945" y="12923281"/>
            <a:ext cx="3255335" cy="36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Key Milestone Legend:</a:t>
            </a:r>
          </a:p>
        </p:txBody>
      </p:sp>
      <p:sp>
        <p:nvSpPr>
          <p:cNvPr id="151" name="Rectangle 2"/>
          <p:cNvSpPr>
            <a:spLocks noChangeArrowheads="1"/>
          </p:cNvSpPr>
          <p:nvPr/>
        </p:nvSpPr>
        <p:spPr bwMode="gray">
          <a:xfrm>
            <a:off x="16663418" y="2523074"/>
            <a:ext cx="4883002" cy="496923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152" name="Rectangle 3"/>
          <p:cNvSpPr>
            <a:spLocks noChangeArrowheads="1"/>
          </p:cNvSpPr>
          <p:nvPr/>
        </p:nvSpPr>
        <p:spPr bwMode="gray">
          <a:xfrm>
            <a:off x="2502713" y="2542447"/>
            <a:ext cx="14038630" cy="5047970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3" name="Rectangle 23"/>
          <p:cNvSpPr>
            <a:spLocks noChangeArrowheads="1"/>
          </p:cNvSpPr>
          <p:nvPr/>
        </p:nvSpPr>
        <p:spPr bwMode="gray">
          <a:xfrm>
            <a:off x="2804505" y="6200148"/>
            <a:ext cx="7511010" cy="1278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AutoNum type="arabicPeriod"/>
              <a:tabLst>
                <a:tab pos="166688" algn="l"/>
              </a:tabLst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Codification</a:t>
            </a:r>
          </a:p>
          <a:p>
            <a:pPr marL="228600" lvl="0" indent="-228600" defTabSz="914400" hangingPunct="1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Development Tests Ready</a:t>
            </a:r>
            <a:endParaRPr kumimoji="0" lang="en-US" sz="2000" b="0" i="0" u="non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AutoNum type="arabicPeriod"/>
              <a:tabLst>
                <a:tab pos="166688" algn="l"/>
              </a:tabLst>
              <a:defRPr/>
            </a:pPr>
            <a:r>
              <a:rPr lang="pt-BR" sz="2000" kern="1200" noProof="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User and  Documentation</a:t>
            </a:r>
            <a:endParaRPr kumimoji="0" lang="en-US" sz="2000" b="0" i="0" u="non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4" name="Rectangle 24"/>
          <p:cNvSpPr>
            <a:spLocks noChangeArrowheads="1"/>
          </p:cNvSpPr>
          <p:nvPr/>
        </p:nvSpPr>
        <p:spPr bwMode="gray">
          <a:xfrm>
            <a:off x="2509494" y="7644068"/>
            <a:ext cx="6836203" cy="2353849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tIns="9144" rIns="0"/>
          <a:lstStyle/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1.	What has the team done since last met?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(Achievements) </a:t>
            </a:r>
          </a:p>
          <a:p>
            <a:pPr marL="166688" lvl="0" indent="-166688"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User Documentation 90%</a:t>
            </a:r>
          </a:p>
          <a:p>
            <a:pPr marL="166688" lvl="0" indent="-166688"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Technical Documentation 80%</a:t>
            </a:r>
          </a:p>
          <a:p>
            <a:pPr marL="166688" lvl="0" indent="-166688"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Test OPM: 70%</a:t>
            </a:r>
            <a:endParaRPr lang="pt-BR" sz="1800" kern="1200" dirty="0">
              <a:solidFill>
                <a:srgbClr val="58585A"/>
              </a:solidFill>
              <a:latin typeface="Calibri" pitchFamily="34" charset="0"/>
              <a:cs typeface="Calibri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" name="Rectangle 25"/>
          <p:cNvSpPr>
            <a:spLocks noChangeArrowheads="1"/>
          </p:cNvSpPr>
          <p:nvPr/>
        </p:nvSpPr>
        <p:spPr bwMode="gray">
          <a:xfrm>
            <a:off x="9389964" y="7647298"/>
            <a:ext cx="7110687" cy="2349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tIns="9144"/>
          <a:lstStyle/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2.	What will the team do before we meet again?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(Next steps)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</a:p>
          <a:p>
            <a:pPr marL="228600" lvl="0" indent="-228600" defTabSz="914400" hangingPunct="1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minimum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information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raw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data)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required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OPM modules working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Ericsson.</a:t>
            </a:r>
          </a:p>
          <a:p>
            <a:pPr marL="228600" lvl="0" indent="-228600" defTabSz="914400" hangingPunct="1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r>
              <a:rPr kumimoji="0" lang="es-MX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kumimoji="0" lang="es-MX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kumimoji="0" lang="es-MX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implement</a:t>
            </a:r>
            <a:r>
              <a:rPr kumimoji="0" lang="es-MX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MX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logic</a:t>
            </a:r>
            <a:r>
              <a:rPr kumimoji="0" lang="es-MX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for</a:t>
            </a:r>
            <a:r>
              <a:rPr kumimoji="0" lang="es-MX" sz="1800" b="0" i="0" u="none" strike="noStrike" kern="1200" cap="none" spc="0" normalizeH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new </a:t>
            </a:r>
            <a:r>
              <a:rPr kumimoji="0" lang="es-MX" sz="1800" b="0" i="0" u="none" strike="noStrike" kern="1200" cap="none" spc="0" normalizeH="0" noProof="0" dirty="0" err="1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raw</a:t>
            </a:r>
            <a:r>
              <a:rPr kumimoji="0" lang="es-MX" sz="1800" b="0" i="0" u="none" strike="noStrike" kern="1200" cap="none" spc="0" normalizeH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kumimoji="0" lang="es-MX" sz="1800" b="0" i="0" u="none" strike="noStrike" kern="1200" cap="none" spc="0" normalizeH="0" noProof="0" dirty="0" err="1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kumimoji="0" lang="es-MX" sz="1800" b="0" i="0" u="none" strike="noStrike" kern="1200" cap="none" spc="0" normalizeH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Ericsson.</a:t>
            </a:r>
          </a:p>
          <a:p>
            <a:pPr marL="228600" lvl="0" indent="-228600" defTabSz="914400" hangingPunct="1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r>
              <a:rPr lang="pt-BR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Opm Installer </a:t>
            </a:r>
          </a:p>
          <a:p>
            <a:pPr marL="228600" lvl="0" indent="-228600" defTabSz="914400" hangingPunct="1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r>
              <a:rPr lang="pt-BR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End of Test</a:t>
            </a:r>
            <a:endParaRPr kumimoji="0" lang="pt-BR" sz="16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228600" lvl="0" indent="-228600" defTabSz="914400" hangingPunct="1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endParaRPr kumimoji="0" lang="pt-BR" sz="16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6" name="Rectangle 36"/>
          <p:cNvSpPr>
            <a:spLocks noChangeArrowheads="1"/>
          </p:cNvSpPr>
          <p:nvPr/>
        </p:nvSpPr>
        <p:spPr bwMode="gray">
          <a:xfrm>
            <a:off x="16829577" y="7779683"/>
            <a:ext cx="4554077" cy="49627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Scope Details / Initiative phases: </a:t>
            </a:r>
          </a:p>
          <a:p>
            <a:pPr marL="166688" indent="-166688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Tool </a:t>
            </a:r>
            <a:r>
              <a:rPr lang="pt-BR" sz="18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was</a:t>
            </a: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requested</a:t>
            </a: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by</a:t>
            </a: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Telcel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pt-BR" sz="1800" kern="1200" dirty="0">
              <a:solidFill>
                <a:srgbClr val="58585A"/>
              </a:solidFill>
              <a:latin typeface="Calibri" pitchFamily="34" charset="0"/>
              <a:cs typeface="Calibri" pitchFamily="34" charset="0"/>
            </a:endParaRPr>
          </a:p>
          <a:p>
            <a:pPr marL="166688" indent="-166688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Project 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was started 13 Apr.</a:t>
            </a:r>
          </a:p>
          <a:p>
            <a:pPr marL="166688" indent="-166688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We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have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set a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sequence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of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recurrent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meetings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every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Friday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from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10am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till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12pm.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This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file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will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be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send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out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after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all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follow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up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meeting.</a:t>
            </a:r>
          </a:p>
          <a:p>
            <a:pPr marL="166688" indent="-166688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This </a:t>
            </a:r>
            <a:r>
              <a:rPr lang="en-US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phase aims to be finished </a:t>
            </a:r>
            <a:r>
              <a:rPr lang="en-US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on Apr 30, </a:t>
            </a:r>
            <a:r>
              <a:rPr lang="en-US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however we plan to keep doing maintenance, creating other reports, etc. according to </a:t>
            </a:r>
            <a:r>
              <a:rPr lang="en-US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client´s </a:t>
            </a:r>
            <a:r>
              <a:rPr lang="en-US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demand</a:t>
            </a:r>
            <a:r>
              <a:rPr lang="en-US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.</a:t>
            </a:r>
          </a:p>
        </p:txBody>
      </p:sp>
      <p:sp>
        <p:nvSpPr>
          <p:cNvPr id="157" name="Text Box 38"/>
          <p:cNvSpPr txBox="1">
            <a:spLocks noChangeArrowheads="1"/>
          </p:cNvSpPr>
          <p:nvPr/>
        </p:nvSpPr>
        <p:spPr bwMode="gray">
          <a:xfrm>
            <a:off x="16927914" y="2275064"/>
            <a:ext cx="2177005" cy="55399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Summary</a:t>
            </a:r>
          </a:p>
        </p:txBody>
      </p:sp>
      <p:sp>
        <p:nvSpPr>
          <p:cNvPr id="158" name="Rectangle 50"/>
          <p:cNvSpPr>
            <a:spLocks noChangeArrowheads="1"/>
          </p:cNvSpPr>
          <p:nvPr/>
        </p:nvSpPr>
        <p:spPr bwMode="gray">
          <a:xfrm>
            <a:off x="16826185" y="2755553"/>
            <a:ext cx="4557469" cy="4626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Initiative Description: </a:t>
            </a:r>
          </a:p>
          <a:p>
            <a:pPr marL="166688" lvl="0" indent="-166688" algn="just" defTabSz="914400" eaLnBrk="1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We need 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 tool for monitoring performance of Ericsson nodes in </a:t>
            </a:r>
            <a:r>
              <a:rPr lang="en-US" sz="16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Telcel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Network.</a:t>
            </a:r>
            <a:endParaRPr lang="en-US" sz="1600" kern="1200" dirty="0">
              <a:solidFill>
                <a:srgbClr val="58585A"/>
              </a:solidFill>
              <a:latin typeface="Calibri" pitchFamily="34" charset="0"/>
              <a:cs typeface="Calibri" pitchFamily="34" charset="0"/>
            </a:endParaRPr>
          </a:p>
          <a:p>
            <a:pPr marL="166688" lvl="0" indent="-166688" algn="just" defTabSz="914400" eaLnBrk="1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We also need to have a 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database </a:t>
            </a: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unified for all 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vendors, </a:t>
            </a: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what needs to be easy to access and centralized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166688" indent="-166688"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We also need to have 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OPM modules and reports working for Ericsson files.</a:t>
            </a:r>
          </a:p>
          <a:p>
            <a:pPr marL="166688" indent="-166688"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The metrics has to be showed in less than 10 minutes in GUI with all vendors.</a:t>
            </a:r>
          </a:p>
          <a:p>
            <a:pPr marL="166688" indent="-166688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Per each </a:t>
            </a:r>
            <a:r>
              <a:rPr lang="en-US" sz="16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aproximetly</a:t>
            </a:r>
            <a:r>
              <a:rPr lang="en-US" sz="1600" kern="120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1600" kern="120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10,000 </a:t>
            </a: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nodes require: </a:t>
            </a:r>
            <a:r>
              <a:rPr lang="en-US" sz="1600" kern="120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Ram </a:t>
            </a:r>
            <a:r>
              <a:rPr lang="en-US" sz="1600" kern="120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24 GB</a:t>
            </a: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, HD 500 GB, vCPU 3</a:t>
            </a:r>
          </a:p>
          <a:p>
            <a:pPr marL="166688" indent="-166688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16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Destributed</a:t>
            </a: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in 3 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OSS’s</a:t>
            </a:r>
            <a:endParaRPr lang="en-US" sz="1600" kern="1200" dirty="0">
              <a:solidFill>
                <a:srgbClr val="58585A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9" name="Rectangle 60"/>
          <p:cNvSpPr>
            <a:spLocks noChangeArrowheads="1"/>
          </p:cNvSpPr>
          <p:nvPr/>
        </p:nvSpPr>
        <p:spPr bwMode="gray">
          <a:xfrm>
            <a:off x="2753644" y="5215956"/>
            <a:ext cx="13669016" cy="277683"/>
          </a:xfrm>
          <a:prstGeom prst="rect">
            <a:avLst/>
          </a:prstGeom>
          <a:solidFill>
            <a:srgbClr val="B1B3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0" name="Text Box 77"/>
          <p:cNvSpPr txBox="1">
            <a:spLocks noChangeArrowheads="1"/>
          </p:cNvSpPr>
          <p:nvPr/>
        </p:nvSpPr>
        <p:spPr bwMode="auto">
          <a:xfrm>
            <a:off x="2590877" y="4641216"/>
            <a:ext cx="24855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Actual/Estimated</a:t>
            </a:r>
          </a:p>
        </p:txBody>
      </p:sp>
      <p:sp>
        <p:nvSpPr>
          <p:cNvPr id="161" name="Text Box 49"/>
          <p:cNvSpPr txBox="1">
            <a:spLocks noChangeArrowheads="1"/>
          </p:cNvSpPr>
          <p:nvPr/>
        </p:nvSpPr>
        <p:spPr bwMode="gray">
          <a:xfrm>
            <a:off x="2909629" y="2291207"/>
            <a:ext cx="3004403" cy="49244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Key Milestones </a:t>
            </a:r>
          </a:p>
        </p:txBody>
      </p:sp>
      <p:sp>
        <p:nvSpPr>
          <p:cNvPr id="162" name="Rectangle 60"/>
          <p:cNvSpPr>
            <a:spLocks noChangeArrowheads="1"/>
          </p:cNvSpPr>
          <p:nvPr/>
        </p:nvSpPr>
        <p:spPr bwMode="gray">
          <a:xfrm>
            <a:off x="2753644" y="3885659"/>
            <a:ext cx="13669016" cy="277683"/>
          </a:xfrm>
          <a:prstGeom prst="rect">
            <a:avLst/>
          </a:prstGeom>
          <a:solidFill>
            <a:srgbClr val="B1B3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3" name="Oval 70"/>
          <p:cNvSpPr>
            <a:spLocks noChangeArrowheads="1"/>
          </p:cNvSpPr>
          <p:nvPr/>
        </p:nvSpPr>
        <p:spPr bwMode="gray">
          <a:xfrm>
            <a:off x="13739414" y="3815034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4" name="Text Box 71"/>
          <p:cNvSpPr txBox="1">
            <a:spLocks noChangeArrowheads="1"/>
          </p:cNvSpPr>
          <p:nvPr/>
        </p:nvSpPr>
        <p:spPr bwMode="gray">
          <a:xfrm>
            <a:off x="15076574" y="4402689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Apr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30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5" name="Text Box 77"/>
          <p:cNvSpPr txBox="1">
            <a:spLocks noChangeArrowheads="1"/>
          </p:cNvSpPr>
          <p:nvPr/>
        </p:nvSpPr>
        <p:spPr bwMode="auto">
          <a:xfrm>
            <a:off x="2594269" y="3349666"/>
            <a:ext cx="19430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Planned</a:t>
            </a:r>
          </a:p>
        </p:txBody>
      </p:sp>
      <p:sp>
        <p:nvSpPr>
          <p:cNvPr id="166" name="Oval 70"/>
          <p:cNvSpPr>
            <a:spLocks noChangeArrowheads="1"/>
          </p:cNvSpPr>
          <p:nvPr/>
        </p:nvSpPr>
        <p:spPr bwMode="gray">
          <a:xfrm>
            <a:off x="11605506" y="3745202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67" name="Text Box 71"/>
          <p:cNvSpPr txBox="1">
            <a:spLocks noChangeArrowheads="1"/>
          </p:cNvSpPr>
          <p:nvPr/>
        </p:nvSpPr>
        <p:spPr bwMode="gray">
          <a:xfrm>
            <a:off x="13516385" y="4402689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Apr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27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9" name="Text Box 71"/>
          <p:cNvSpPr txBox="1">
            <a:spLocks noChangeArrowheads="1"/>
          </p:cNvSpPr>
          <p:nvPr/>
        </p:nvSpPr>
        <p:spPr bwMode="gray">
          <a:xfrm>
            <a:off x="10451022" y="4422513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Apr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13</a:t>
            </a:r>
          </a:p>
        </p:txBody>
      </p:sp>
      <p:sp>
        <p:nvSpPr>
          <p:cNvPr id="170" name="Oval 70"/>
          <p:cNvSpPr>
            <a:spLocks noChangeArrowheads="1"/>
          </p:cNvSpPr>
          <p:nvPr/>
        </p:nvSpPr>
        <p:spPr bwMode="gray">
          <a:xfrm>
            <a:off x="10586425" y="3745202"/>
            <a:ext cx="586640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72" name="Rectangle 5"/>
          <p:cNvSpPr>
            <a:spLocks noChangeArrowheads="1"/>
          </p:cNvSpPr>
          <p:nvPr/>
        </p:nvSpPr>
        <p:spPr bwMode="gray">
          <a:xfrm>
            <a:off x="4269410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noProof="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W2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2018</a:t>
            </a:r>
          </a:p>
        </p:txBody>
      </p:sp>
      <p:sp>
        <p:nvSpPr>
          <p:cNvPr id="173" name="Rectangle 5"/>
          <p:cNvSpPr>
            <a:spLocks noChangeArrowheads="1"/>
          </p:cNvSpPr>
          <p:nvPr/>
        </p:nvSpPr>
        <p:spPr bwMode="gray">
          <a:xfrm>
            <a:off x="5781784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W3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2018</a:t>
            </a:r>
          </a:p>
        </p:txBody>
      </p:sp>
      <p:sp>
        <p:nvSpPr>
          <p:cNvPr id="174" name="Rectangle 5"/>
          <p:cNvSpPr>
            <a:spLocks noChangeArrowheads="1"/>
          </p:cNvSpPr>
          <p:nvPr/>
        </p:nvSpPr>
        <p:spPr bwMode="gray">
          <a:xfrm>
            <a:off x="7294159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W4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2018</a:t>
            </a:r>
          </a:p>
        </p:txBody>
      </p:sp>
      <p:sp>
        <p:nvSpPr>
          <p:cNvPr id="175" name="Rectangle 5"/>
          <p:cNvSpPr>
            <a:spLocks noChangeArrowheads="1"/>
          </p:cNvSpPr>
          <p:nvPr/>
        </p:nvSpPr>
        <p:spPr bwMode="gray">
          <a:xfrm>
            <a:off x="8806533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W8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2018</a:t>
            </a:r>
          </a:p>
        </p:txBody>
      </p:sp>
      <p:sp>
        <p:nvSpPr>
          <p:cNvPr id="176" name="Rectangle 5"/>
          <p:cNvSpPr>
            <a:spLocks noChangeArrowheads="1"/>
          </p:cNvSpPr>
          <p:nvPr/>
        </p:nvSpPr>
        <p:spPr bwMode="gray">
          <a:xfrm>
            <a:off x="10315515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W15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2018</a:t>
            </a:r>
          </a:p>
        </p:txBody>
      </p:sp>
      <p:sp>
        <p:nvSpPr>
          <p:cNvPr id="179" name="Rectangle 5"/>
          <p:cNvSpPr>
            <a:spLocks noChangeArrowheads="1"/>
          </p:cNvSpPr>
          <p:nvPr/>
        </p:nvSpPr>
        <p:spPr bwMode="gray">
          <a:xfrm>
            <a:off x="11827889" y="2884708"/>
            <a:ext cx="1481857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W16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2018</a:t>
            </a:r>
          </a:p>
        </p:txBody>
      </p:sp>
      <p:sp>
        <p:nvSpPr>
          <p:cNvPr id="180" name="Rectangle 5"/>
          <p:cNvSpPr>
            <a:spLocks noChangeArrowheads="1"/>
          </p:cNvSpPr>
          <p:nvPr/>
        </p:nvSpPr>
        <p:spPr bwMode="gray">
          <a:xfrm>
            <a:off x="13336874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W17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2018</a:t>
            </a:r>
          </a:p>
        </p:txBody>
      </p:sp>
      <p:sp>
        <p:nvSpPr>
          <p:cNvPr id="181" name="Rectangle 5"/>
          <p:cNvSpPr>
            <a:spLocks noChangeArrowheads="1"/>
          </p:cNvSpPr>
          <p:nvPr/>
        </p:nvSpPr>
        <p:spPr bwMode="gray">
          <a:xfrm>
            <a:off x="14849248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W18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2018</a:t>
            </a:r>
          </a:p>
        </p:txBody>
      </p:sp>
      <p:sp>
        <p:nvSpPr>
          <p:cNvPr id="182" name="Rectangle 23"/>
          <p:cNvSpPr>
            <a:spLocks noChangeArrowheads="1"/>
          </p:cNvSpPr>
          <p:nvPr/>
        </p:nvSpPr>
        <p:spPr bwMode="gray">
          <a:xfrm>
            <a:off x="10552879" y="6017331"/>
            <a:ext cx="5933619" cy="1278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>
                <a:tab pos="166688" algn="l"/>
              </a:tabLst>
              <a:defRPr/>
            </a:pPr>
            <a:r>
              <a:rPr kumimoji="0" lang="en-US" sz="2000" b="0" i="0" u="non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4.</a:t>
            </a:r>
            <a:r>
              <a:rPr kumimoji="0" lang="en-US" sz="2000" b="0" i="0" u="none" kern="1200" cap="none" spc="0" normalizeH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Installation Package/Test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>
                <a:tab pos="166688" algn="l"/>
              </a:tabLst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2000" b="0" i="0" u="non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5. Alpha version Launch</a:t>
            </a:r>
          </a:p>
        </p:txBody>
      </p:sp>
      <p:sp>
        <p:nvSpPr>
          <p:cNvPr id="183" name="Rectangle 5"/>
          <p:cNvSpPr>
            <a:spLocks noChangeArrowheads="1"/>
          </p:cNvSpPr>
          <p:nvPr/>
        </p:nvSpPr>
        <p:spPr bwMode="gray">
          <a:xfrm>
            <a:off x="2757036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noProof="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W1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2018</a:t>
            </a:r>
          </a:p>
        </p:txBody>
      </p:sp>
      <p:sp>
        <p:nvSpPr>
          <p:cNvPr id="185" name="Oval 61"/>
          <p:cNvSpPr>
            <a:spLocks noChangeArrowheads="1"/>
          </p:cNvSpPr>
          <p:nvPr/>
        </p:nvSpPr>
        <p:spPr bwMode="gray">
          <a:xfrm>
            <a:off x="15286682" y="3711298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Rectangle 26"/>
          <p:cNvSpPr>
            <a:spLocks noChangeArrowheads="1"/>
          </p:cNvSpPr>
          <p:nvPr/>
        </p:nvSpPr>
        <p:spPr bwMode="gray">
          <a:xfrm>
            <a:off x="2521762" y="9997920"/>
            <a:ext cx="6826031" cy="2925361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rIns="0"/>
          <a:lstStyle/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3.	Is anything slowing the team down?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(Risks and Issues)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 typeface="Wingdings" pitchFamily="2" charset="2"/>
              <a:buChar char="§"/>
              <a:tabLst/>
              <a:defRPr/>
            </a:pPr>
            <a:endParaRPr lang="pt-BR" sz="1800" kern="1200" dirty="0" smtClean="0">
              <a:solidFill>
                <a:srgbClr val="58585A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9" name="Rectangle 27"/>
          <p:cNvSpPr>
            <a:spLocks noChangeArrowheads="1"/>
          </p:cNvSpPr>
          <p:nvPr/>
        </p:nvSpPr>
        <p:spPr bwMode="gray">
          <a:xfrm>
            <a:off x="9389964" y="9997917"/>
            <a:ext cx="7110687" cy="2925364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/>
          <a:lstStyle/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4.	What support is required from the Leaders?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(attention and action) 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166688" marR="0" lvl="0" indent="-166688" algn="just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 typeface="Wingdings" pitchFamily="2" charset="2"/>
              <a:buChar char="§"/>
              <a:tabLst/>
              <a:defRPr/>
            </a:pPr>
            <a:endParaRPr lang="pt-BR" sz="1800" kern="1200" dirty="0">
              <a:solidFill>
                <a:srgbClr val="58585A"/>
              </a:solidFill>
              <a:latin typeface="Calibri" pitchFamily="34" charset="0"/>
              <a:cs typeface="Calibri" pitchFamily="34" charset="0"/>
            </a:endParaRPr>
          </a:p>
          <a:p>
            <a:pPr marR="0" lvl="0" algn="just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tabLst/>
              <a:defRPr/>
            </a:pPr>
            <a:endParaRPr kumimoji="0" lang="en-US" sz="1800" b="0" i="0" u="none" strike="noStrike" kern="1200" cap="none" spc="0" normalizeH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R="0" lvl="0" algn="just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0" name="Rectangle 42"/>
          <p:cNvSpPr>
            <a:spLocks noChangeArrowheads="1"/>
          </p:cNvSpPr>
          <p:nvPr/>
        </p:nvSpPr>
        <p:spPr bwMode="gray">
          <a:xfrm>
            <a:off x="5106980" y="13036293"/>
            <a:ext cx="1115631" cy="309972"/>
          </a:xfrm>
          <a:prstGeom prst="rect">
            <a:avLst/>
          </a:prstGeom>
          <a:solidFill>
            <a:srgbClr val="FFFFFF">
              <a:lumMod val="6500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Gray</a:t>
            </a:r>
          </a:p>
        </p:txBody>
      </p:sp>
      <p:sp>
        <p:nvSpPr>
          <p:cNvPr id="194" name="Text Box 71"/>
          <p:cNvSpPr txBox="1">
            <a:spLocks noChangeArrowheads="1"/>
          </p:cNvSpPr>
          <p:nvPr/>
        </p:nvSpPr>
        <p:spPr bwMode="gray">
          <a:xfrm>
            <a:off x="11403742" y="4316511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Apr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17</a:t>
            </a:r>
          </a:p>
        </p:txBody>
      </p:sp>
      <p:sp>
        <p:nvSpPr>
          <p:cNvPr id="195" name="Text Box 71"/>
          <p:cNvSpPr txBox="1">
            <a:spLocks noChangeArrowheads="1"/>
          </p:cNvSpPr>
          <p:nvPr/>
        </p:nvSpPr>
        <p:spPr bwMode="gray">
          <a:xfrm>
            <a:off x="12268716" y="4333858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Apr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20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6" name="Oval 70"/>
          <p:cNvSpPr>
            <a:spLocks noChangeArrowheads="1"/>
          </p:cNvSpPr>
          <p:nvPr/>
        </p:nvSpPr>
        <p:spPr bwMode="gray">
          <a:xfrm>
            <a:off x="12470385" y="3730366"/>
            <a:ext cx="586640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1" name="Rectangle 47"/>
          <p:cNvSpPr>
            <a:spLocks noChangeArrowheads="1"/>
          </p:cNvSpPr>
          <p:nvPr/>
        </p:nvSpPr>
        <p:spPr bwMode="gray">
          <a:xfrm>
            <a:off x="18807141" y="13037752"/>
            <a:ext cx="2248121" cy="309972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/>
          <a:p>
            <a:r>
              <a:rPr lang="en-US" sz="1400" dirty="0">
                <a:latin typeface="Calibri" pitchFamily="34" charset="0"/>
                <a:cs typeface="Calibri" pitchFamily="34" charset="0"/>
              </a:rPr>
              <a:t>Will miss planned delivery</a:t>
            </a:r>
          </a:p>
        </p:txBody>
      </p:sp>
      <p:sp>
        <p:nvSpPr>
          <p:cNvPr id="212" name="Oval 70"/>
          <p:cNvSpPr>
            <a:spLocks noChangeArrowheads="1"/>
          </p:cNvSpPr>
          <p:nvPr/>
        </p:nvSpPr>
        <p:spPr bwMode="gray">
          <a:xfrm>
            <a:off x="15106079" y="5095538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4" name="Oval 70"/>
          <p:cNvSpPr>
            <a:spLocks noChangeArrowheads="1"/>
          </p:cNvSpPr>
          <p:nvPr/>
        </p:nvSpPr>
        <p:spPr bwMode="gray">
          <a:xfrm>
            <a:off x="13419140" y="5018302"/>
            <a:ext cx="586637" cy="558596"/>
          </a:xfrm>
          <a:prstGeom prst="ellipse">
            <a:avLst/>
          </a:prstGeom>
          <a:solidFill>
            <a:srgbClr val="FFFF00"/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hangingPunct="1">
              <a:spcBef>
                <a:spcPts val="0"/>
              </a:spcBef>
            </a:pPr>
            <a:r>
              <a:rPr lang="en-US" sz="2400" dirty="0"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216" name="Text Box 71"/>
          <p:cNvSpPr txBox="1">
            <a:spLocks noChangeArrowheads="1"/>
          </p:cNvSpPr>
          <p:nvPr/>
        </p:nvSpPr>
        <p:spPr bwMode="gray">
          <a:xfrm>
            <a:off x="10482470" y="5713654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Apr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noProof="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13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7" name="Oval 70"/>
          <p:cNvSpPr>
            <a:spLocks noChangeArrowheads="1"/>
          </p:cNvSpPr>
          <p:nvPr/>
        </p:nvSpPr>
        <p:spPr bwMode="gray">
          <a:xfrm>
            <a:off x="10652784" y="5091799"/>
            <a:ext cx="586640" cy="558596"/>
          </a:xfrm>
          <a:prstGeom prst="ellipse">
            <a:avLst/>
          </a:prstGeom>
          <a:solidFill>
            <a:srgbClr val="00B050"/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18" name="Oval 61"/>
          <p:cNvSpPr>
            <a:spLocks noChangeArrowheads="1"/>
          </p:cNvSpPr>
          <p:nvPr/>
        </p:nvSpPr>
        <p:spPr bwMode="gray">
          <a:xfrm>
            <a:off x="15702079" y="5060232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Oval 70"/>
          <p:cNvSpPr>
            <a:spLocks noChangeArrowheads="1"/>
          </p:cNvSpPr>
          <p:nvPr/>
        </p:nvSpPr>
        <p:spPr bwMode="gray">
          <a:xfrm>
            <a:off x="12763705" y="5027599"/>
            <a:ext cx="586640" cy="558596"/>
          </a:xfrm>
          <a:prstGeom prst="ellipse">
            <a:avLst/>
          </a:prstGeom>
          <a:solidFill>
            <a:srgbClr val="00B050"/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 Box 71"/>
          <p:cNvSpPr txBox="1">
            <a:spLocks noChangeArrowheads="1"/>
          </p:cNvSpPr>
          <p:nvPr/>
        </p:nvSpPr>
        <p:spPr bwMode="gray">
          <a:xfrm>
            <a:off x="13309746" y="5778371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Apr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63" name="Text Box 71"/>
          <p:cNvSpPr txBox="1">
            <a:spLocks noChangeArrowheads="1"/>
          </p:cNvSpPr>
          <p:nvPr/>
        </p:nvSpPr>
        <p:spPr bwMode="gray">
          <a:xfrm>
            <a:off x="12598545" y="5706966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Apr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27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4" name="Text Box 71"/>
          <p:cNvSpPr txBox="1">
            <a:spLocks noChangeArrowheads="1"/>
          </p:cNvSpPr>
          <p:nvPr/>
        </p:nvSpPr>
        <p:spPr bwMode="gray">
          <a:xfrm>
            <a:off x="14938615" y="5766556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Apr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27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5" name="Text Box 71"/>
          <p:cNvSpPr txBox="1">
            <a:spLocks noChangeArrowheads="1"/>
          </p:cNvSpPr>
          <p:nvPr/>
        </p:nvSpPr>
        <p:spPr bwMode="gray">
          <a:xfrm>
            <a:off x="15640249" y="5764086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Apr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30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11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asted-image.pdf" descr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4010" y="-19007"/>
            <a:ext cx="24412021" cy="15179718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Gracias"/>
          <p:cNvSpPr/>
          <p:nvPr/>
        </p:nvSpPr>
        <p:spPr>
          <a:xfrm>
            <a:off x="9983863" y="4133150"/>
            <a:ext cx="4416274" cy="1333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solidFill>
                  <a:srgbClr val="FFFFFF"/>
                </a:solidFill>
              </a:defRPr>
            </a:lvl1pPr>
          </a:lstStyle>
          <a:p>
            <a:r>
              <a:rPr lang="es-MX" dirty="0" err="1"/>
              <a:t>Thank</a:t>
            </a:r>
            <a:r>
              <a:rPr lang="es-MX" dirty="0"/>
              <a:t> </a:t>
            </a:r>
            <a:r>
              <a:rPr lang="es-MX" dirty="0" err="1"/>
              <a:t>you</a:t>
            </a:r>
            <a:endParaRPr dirty="0"/>
          </a:p>
        </p:txBody>
      </p:sp>
      <p:sp>
        <p:nvSpPr>
          <p:cNvPr id="207" name="Canadá…"/>
          <p:cNvSpPr/>
          <p:nvPr/>
        </p:nvSpPr>
        <p:spPr>
          <a:xfrm>
            <a:off x="2987491" y="7376232"/>
            <a:ext cx="7444838" cy="4480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Canadá</a:t>
            </a:r>
            <a:endParaRPr dirty="0"/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866 Place Simon, Saint Laurent</a:t>
            </a: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Canada H4M 2W2</a:t>
            </a: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+1514 564 3243</a:t>
            </a:r>
          </a:p>
        </p:txBody>
      </p:sp>
      <p:sp>
        <p:nvSpPr>
          <p:cNvPr id="208" name="Ciudad de México…"/>
          <p:cNvSpPr/>
          <p:nvPr/>
        </p:nvSpPr>
        <p:spPr>
          <a:xfrm>
            <a:off x="14315307" y="7109532"/>
            <a:ext cx="8158673" cy="5014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Ciudad de México</a:t>
            </a: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Av. </a:t>
            </a:r>
            <a:r>
              <a:rPr dirty="0" err="1"/>
              <a:t>Ejercito</a:t>
            </a:r>
            <a:r>
              <a:rPr dirty="0"/>
              <a:t> </a:t>
            </a:r>
            <a:r>
              <a:rPr dirty="0" err="1"/>
              <a:t>Nacional</a:t>
            </a:r>
            <a:r>
              <a:rPr dirty="0"/>
              <a:t> No. 505 – 1003</a:t>
            </a: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Col. </a:t>
            </a:r>
            <a:r>
              <a:rPr dirty="0" err="1"/>
              <a:t>Ampliación</a:t>
            </a:r>
            <a:r>
              <a:rPr dirty="0"/>
              <a:t> Granada, Ciudad de México</a:t>
            </a: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+52 55 65 88 99 23</a:t>
            </a:r>
          </a:p>
        </p:txBody>
      </p:sp>
      <p:pic>
        <p:nvPicPr>
          <p:cNvPr id="209" name="logo.png" descr="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14296" y="789572"/>
            <a:ext cx="6155408" cy="3005571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intelmas.com"/>
          <p:cNvSpPr/>
          <p:nvPr/>
        </p:nvSpPr>
        <p:spPr>
          <a:xfrm>
            <a:off x="10967656" y="12611883"/>
            <a:ext cx="3949799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rgbClr val="FFFFFF"/>
                </a:solidFill>
                <a:hlinkClick r:id="rId4"/>
              </a:defRPr>
            </a:lvl1pPr>
          </a:lstStyle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pt-BR" sz="3600" u="none" dirty="0" err="1">
                <a:latin typeface="Arial"/>
                <a:ea typeface="Arial"/>
                <a:cs typeface="Arial"/>
              </a:rPr>
              <a:t>www</a:t>
            </a:r>
            <a:r>
              <a:rPr lang="pt-BR" sz="3600" u="none" dirty="0">
                <a:latin typeface="Arial"/>
                <a:ea typeface="Arial"/>
                <a:cs typeface="Arial"/>
              </a:rPr>
              <a:t>.</a:t>
            </a:r>
            <a:r>
              <a:rPr sz="3600" u="none" dirty="0">
                <a:latin typeface="Arial"/>
                <a:ea typeface="Arial"/>
                <a:cs typeface="Arial"/>
              </a:rPr>
              <a:t>intelmas.com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push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3632</TotalTime>
  <Words>329</Words>
  <Application>Microsoft Office PowerPoint</Application>
  <PresentationFormat>Custom</PresentationFormat>
  <Paragraphs>97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Arial</vt:lpstr>
      <vt:lpstr>Arial Black</vt:lpstr>
      <vt:lpstr>Avenir Next</vt:lpstr>
      <vt:lpstr>Avenir Next Medium</vt:lpstr>
      <vt:lpstr>Calibri</vt:lpstr>
      <vt:lpstr>DIN Alternate</vt:lpstr>
      <vt:lpstr>DIN Condensed</vt:lpstr>
      <vt:lpstr>Helvetica</vt:lpstr>
      <vt:lpstr>Helvetica Neue</vt:lpstr>
      <vt:lpstr>Wingdings</vt:lpstr>
      <vt:lpstr>New_Template7</vt:lpstr>
      <vt:lpstr>PowerPoint Presentation</vt:lpstr>
      <vt:lpstr>PowerPoint Presentation</vt:lpstr>
      <vt:lpstr>Summary – one page – W16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Intelma</dc:creator>
  <cp:lastModifiedBy>Temporal</cp:lastModifiedBy>
  <cp:revision>125</cp:revision>
  <dcterms:modified xsi:type="dcterms:W3CDTF">2018-04-20T19:14:53Z</dcterms:modified>
</cp:coreProperties>
</file>