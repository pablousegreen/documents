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3" r:id="rId2"/>
    <p:sldId id="257" r:id="rId3"/>
    <p:sldId id="285" r:id="rId4"/>
    <p:sldId id="258" r:id="rId5"/>
    <p:sldId id="276" r:id="rId6"/>
    <p:sldId id="279" r:id="rId7"/>
    <p:sldId id="287" r:id="rId8"/>
    <p:sldId id="288" r:id="rId9"/>
    <p:sldId id="293" r:id="rId10"/>
    <p:sldId id="289" r:id="rId11"/>
    <p:sldId id="290" r:id="rId12"/>
    <p:sldId id="291" r:id="rId13"/>
    <p:sldId id="292" r:id="rId14"/>
    <p:sldId id="295" r:id="rId15"/>
    <p:sldId id="296" r:id="rId16"/>
    <p:sldId id="277" r:id="rId17"/>
    <p:sldId id="294" r:id="rId18"/>
    <p:sldId id="281" r:id="rId19"/>
    <p:sldId id="284" r:id="rId20"/>
    <p:sldId id="278" r:id="rId21"/>
    <p:sldId id="265"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228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457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685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9144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11430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1371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1600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1828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E628FBBA-AC46-4ABF-A68E-10760CFE6EF3}">
          <p14:sldIdLst>
            <p14:sldId id="273"/>
            <p14:sldId id="257"/>
            <p14:sldId id="285"/>
            <p14:sldId id="258"/>
            <p14:sldId id="276"/>
            <p14:sldId id="279"/>
            <p14:sldId id="287"/>
            <p14:sldId id="288"/>
            <p14:sldId id="293"/>
            <p14:sldId id="289"/>
            <p14:sldId id="290"/>
            <p14:sldId id="291"/>
            <p14:sldId id="292"/>
            <p14:sldId id="295"/>
            <p14:sldId id="296"/>
            <p14:sldId id="277"/>
            <p14:sldId id="294"/>
            <p14:sldId id="281"/>
            <p14:sldId id="284"/>
            <p14:sldId id="278"/>
          </p14:sldIdLst>
        </p14:section>
        <p14:section name="Untitled Section" id="{425B6C2C-2493-40E7-BD87-7EDBCB50417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635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635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635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635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p:cViewPr varScale="1">
        <p:scale>
          <a:sx n="35" d="100"/>
          <a:sy n="35" d="100"/>
        </p:scale>
        <p:origin x="6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024227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3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85824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bg>
      <p:bgPr>
        <a:solidFill>
          <a:srgbClr val="222222"/>
        </a:solidFill>
        <a:effectLst/>
      </p:bgPr>
    </p:bg>
    <p:spTree>
      <p:nvGrpSpPr>
        <p:cNvPr id="1" name=""/>
        <p:cNvGrpSpPr/>
        <p:nvPr/>
      </p:nvGrpSpPr>
      <p:grpSpPr>
        <a:xfrm>
          <a:off x="0" y="0"/>
          <a:ext cx="0" cy="0"/>
          <a:chOff x="0" y="0"/>
          <a:chExt cx="0" cy="0"/>
        </a:xfrm>
      </p:grpSpPr>
      <p:sp>
        <p:nvSpPr>
          <p:cNvPr id="11"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13"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1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bg>
      <p:bgPr>
        <a:solidFill>
          <a:srgbClr val="222222"/>
        </a:solidFill>
        <a:effectLst/>
      </p:bgPr>
    </p:bg>
    <p:spTree>
      <p:nvGrpSpPr>
        <p:cNvPr id="1" name=""/>
        <p:cNvGrpSpPr/>
        <p:nvPr/>
      </p:nvGrpSpPr>
      <p:grpSpPr>
        <a:xfrm>
          <a:off x="0" y="0"/>
          <a:ext cx="0" cy="0"/>
          <a:chOff x="0" y="0"/>
          <a:chExt cx="0" cy="0"/>
        </a:xfrm>
      </p:grpSpPr>
      <p:sp>
        <p:nvSpPr>
          <p:cNvPr id="21"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22" name="Línea"/>
          <p:cNvSpPr>
            <a:spLocks noGrp="1"/>
          </p:cNvSpPr>
          <p:nvPr>
            <p:ph type="body" sz="quarter" idx="14"/>
          </p:nvPr>
        </p:nvSpPr>
        <p:spPr>
          <a:xfrm flipV="1">
            <a:off x="762000" y="8635632"/>
            <a:ext cx="22859999" cy="369"/>
          </a:xfrm>
          <a:prstGeom prst="line">
            <a:avLst/>
          </a:prstGeom>
          <a:ln w="50800">
            <a:solidFill>
              <a:srgbClr val="A6AAA9"/>
            </a:solidFill>
          </a:ln>
        </p:spPr>
        <p:txBody>
          <a:bodyPr anchor="ctr">
            <a:noAutofit/>
          </a:bodyPr>
          <a:lstStyle/>
          <a:p>
            <a:pPr marL="0" indent="0" defTabSz="457200">
              <a:spcBef>
                <a:spcPts val="0"/>
              </a:spcBef>
              <a:buClrTx/>
              <a:buSzTx/>
              <a:buFontTx/>
              <a:buNone/>
              <a:defRPr sz="1200">
                <a:solidFill>
                  <a:srgbClr val="000000"/>
                </a:solidFill>
                <a:latin typeface="Helvetica"/>
                <a:ea typeface="Helvetica"/>
                <a:cs typeface="Helvetica"/>
                <a:sym typeface="Helvetica"/>
              </a:defRPr>
            </a:pPr>
            <a:endParaRPr/>
          </a:p>
        </p:txBody>
      </p:sp>
      <p:sp>
        <p:nvSpPr>
          <p:cNvPr id="2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2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25"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y subtítulo alt.">
    <p:spTree>
      <p:nvGrpSpPr>
        <p:cNvPr id="1" name=""/>
        <p:cNvGrpSpPr/>
        <p:nvPr/>
      </p:nvGrpSpPr>
      <p:grpSpPr>
        <a:xfrm>
          <a:off x="0" y="0"/>
          <a:ext cx="0" cy="0"/>
          <a:chOff x="0" y="0"/>
          <a:chExt cx="0" cy="0"/>
        </a:xfrm>
      </p:grpSpPr>
      <p:sp>
        <p:nvSpPr>
          <p:cNvPr id="32"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3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3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35" name="Número de diapositiva"/>
          <p:cNvSpPr>
            <a:spLocks noGrp="1"/>
          </p:cNvSpPr>
          <p:nvPr>
            <p:ph type="sldNum" sz="quarter" idx="2"/>
          </p:nvPr>
        </p:nvSpPr>
        <p:spPr>
          <a:xfrm>
            <a:off x="23013221" y="584200"/>
            <a:ext cx="553195"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centro)">
    <p:bg>
      <p:bgPr>
        <a:solidFill>
          <a:srgbClr val="222222"/>
        </a:solidFill>
        <a:effectLst/>
      </p:bgPr>
    </p:bg>
    <p:spTree>
      <p:nvGrpSpPr>
        <p:cNvPr id="1" name=""/>
        <p:cNvGrpSpPr/>
        <p:nvPr/>
      </p:nvGrpSpPr>
      <p:grpSpPr>
        <a:xfrm>
          <a:off x="0" y="0"/>
          <a:ext cx="0" cy="0"/>
          <a:chOff x="0" y="0"/>
          <a:chExt cx="0" cy="0"/>
        </a:xfrm>
      </p:grpSpPr>
      <p:sp>
        <p:nvSpPr>
          <p:cNvPr id="42" name="Texto del título"/>
          <p:cNvSpPr>
            <a:spLocks noGrp="1"/>
          </p:cNvSpPr>
          <p:nvPr>
            <p:ph type="title"/>
          </p:nvPr>
        </p:nvSpPr>
        <p:spPr>
          <a:xfrm>
            <a:off x="762000" y="5676900"/>
            <a:ext cx="22860000" cy="6350000"/>
          </a:xfrm>
          <a:prstGeom prst="rect">
            <a:avLst/>
          </a:prstGeom>
        </p:spPr>
        <p:txBody>
          <a:bodyPr/>
          <a:lstStyle>
            <a:lvl1pPr>
              <a:spcBef>
                <a:spcPts val="0"/>
              </a:spcBef>
              <a:defRPr sz="30300"/>
            </a:lvl1pPr>
          </a:lstStyle>
          <a:p>
            <a:r>
              <a:t>Texto del título</a:t>
            </a:r>
          </a:p>
        </p:txBody>
      </p:sp>
      <p:sp>
        <p:nvSpPr>
          <p:cNvPr id="43"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vertical)">
    <p:bg>
      <p:bgPr>
        <a:solidFill>
          <a:srgbClr val="222222"/>
        </a:solidFill>
        <a:effectLst/>
      </p:bgPr>
    </p:bg>
    <p:spTree>
      <p:nvGrpSpPr>
        <p:cNvPr id="1" name=""/>
        <p:cNvGrpSpPr/>
        <p:nvPr/>
      </p:nvGrpSpPr>
      <p:grpSpPr>
        <a:xfrm>
          <a:off x="0" y="0"/>
          <a:ext cx="0" cy="0"/>
          <a:chOff x="0" y="0"/>
          <a:chExt cx="0" cy="0"/>
        </a:xfrm>
      </p:grpSpPr>
      <p:sp>
        <p:nvSpPr>
          <p:cNvPr id="50" name="Línea"/>
          <p:cNvSpPr/>
          <p:nvPr/>
        </p:nvSpPr>
        <p:spPr>
          <a:xfrm flipV="1">
            <a:off x="11049000" y="8635798"/>
            <a:ext cx="12572997" cy="203"/>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51" name="Imagen"/>
          <p:cNvSpPr>
            <a:spLocks noGrp="1"/>
          </p:cNvSpPr>
          <p:nvPr>
            <p:ph type="pic" idx="13"/>
          </p:nvPr>
        </p:nvSpPr>
        <p:spPr>
          <a:xfrm>
            <a:off x="0" y="0"/>
            <a:ext cx="10287000" cy="13716000"/>
          </a:xfrm>
          <a:prstGeom prst="rect">
            <a:avLst/>
          </a:prstGeom>
        </p:spPr>
        <p:txBody>
          <a:bodyPr lIns="91439" tIns="45719" rIns="91439" bIns="45719">
            <a:noAutofit/>
          </a:bodyPr>
          <a:lstStyle/>
          <a:p>
            <a:endParaRPr/>
          </a:p>
        </p:txBody>
      </p:sp>
      <p:sp>
        <p:nvSpPr>
          <p:cNvPr id="52" name="Texto del título"/>
          <p:cNvSpPr>
            <a:spLocks noGrp="1"/>
          </p:cNvSpPr>
          <p:nvPr>
            <p:ph type="title"/>
          </p:nvPr>
        </p:nvSpPr>
        <p:spPr>
          <a:xfrm>
            <a:off x="11049000" y="9042400"/>
            <a:ext cx="12573000" cy="3810000"/>
          </a:xfrm>
          <a:prstGeom prst="rect">
            <a:avLst/>
          </a:prstGeom>
        </p:spPr>
        <p:txBody>
          <a:bodyPr/>
          <a:lstStyle>
            <a:lvl1pPr>
              <a:spcBef>
                <a:spcPts val="0"/>
              </a:spcBef>
              <a:defRPr sz="30300"/>
            </a:lvl1pPr>
          </a:lstStyle>
          <a:p>
            <a:r>
              <a:t>Texto del título</a:t>
            </a:r>
          </a:p>
        </p:txBody>
      </p:sp>
      <p:sp>
        <p:nvSpPr>
          <p:cNvPr id="53" name="Nivel de texto 1…"/>
          <p:cNvSpPr>
            <a:spLocks noGrp="1"/>
          </p:cNvSpPr>
          <p:nvPr>
            <p:ph type="body" sz="quarter" idx="1"/>
          </p:nvPr>
        </p:nvSpPr>
        <p:spPr>
          <a:xfrm>
            <a:off x="11049000" y="5994400"/>
            <a:ext cx="12573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5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6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62" name="Texto del título"/>
          <p:cNvSpPr>
            <a:spLocks noGrp="1"/>
          </p:cNvSpPr>
          <p:nvPr>
            <p:ph type="title"/>
          </p:nvPr>
        </p:nvSpPr>
        <p:spPr>
          <a:prstGeom prst="rect">
            <a:avLst/>
          </a:prstGeom>
        </p:spPr>
        <p:txBody>
          <a:bodyPr/>
          <a:lstStyle/>
          <a:p>
            <a:r>
              <a:t>Texto del título</a:t>
            </a:r>
          </a:p>
        </p:txBody>
      </p:sp>
      <p:sp>
        <p:nvSpPr>
          <p:cNvPr id="6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y viñetas">
    <p:bg>
      <p:bgPr>
        <a:solidFill>
          <a:srgbClr val="222222"/>
        </a:solidFill>
        <a:effectLst/>
      </p:bgPr>
    </p:bg>
    <p:spTree>
      <p:nvGrpSpPr>
        <p:cNvPr id="1" name=""/>
        <p:cNvGrpSpPr/>
        <p:nvPr/>
      </p:nvGrpSpPr>
      <p:grpSpPr>
        <a:xfrm>
          <a:off x="0" y="0"/>
          <a:ext cx="0" cy="0"/>
          <a:chOff x="0" y="0"/>
          <a:chExt cx="0" cy="0"/>
        </a:xfrm>
      </p:grpSpPr>
      <p:sp>
        <p:nvSpPr>
          <p:cNvPr id="70"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7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72" name="Texto del título"/>
          <p:cNvSpPr>
            <a:spLocks noGrp="1"/>
          </p:cNvSpPr>
          <p:nvPr>
            <p:ph type="title"/>
          </p:nvPr>
        </p:nvSpPr>
        <p:spPr>
          <a:prstGeom prst="rect">
            <a:avLst/>
          </a:prstGeom>
        </p:spPr>
        <p:txBody>
          <a:bodyPr/>
          <a:lstStyle/>
          <a:p>
            <a:r>
              <a:t>Texto del título</a:t>
            </a:r>
          </a:p>
        </p:txBody>
      </p:sp>
      <p:sp>
        <p:nvSpPr>
          <p:cNvPr id="73"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sp>
        <p:nvSpPr>
          <p:cNvPr id="7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y viñetas alt.">
    <p:spTree>
      <p:nvGrpSpPr>
        <p:cNvPr id="1" name=""/>
        <p:cNvGrpSpPr/>
        <p:nvPr/>
      </p:nvGrpSpPr>
      <p:grpSpPr>
        <a:xfrm>
          <a:off x="0" y="0"/>
          <a:ext cx="0" cy="0"/>
          <a:chOff x="0" y="0"/>
          <a:chExt cx="0" cy="0"/>
        </a:xfrm>
      </p:grpSpPr>
      <p:sp>
        <p:nvSpPr>
          <p:cNvPr id="81" name="Texto del título"/>
          <p:cNvSpPr>
            <a:spLocks noGrp="1"/>
          </p:cNvSpPr>
          <p:nvPr>
            <p:ph type="title"/>
          </p:nvPr>
        </p:nvSpPr>
        <p:spPr>
          <a:xfrm>
            <a:off x="513183" y="942564"/>
            <a:ext cx="22860001" cy="1016001"/>
          </a:xfrm>
          <a:prstGeom prst="rect">
            <a:avLst/>
          </a:prstGeom>
        </p:spPr>
        <p:txBody>
          <a:bodyPr/>
          <a:lstStyle/>
          <a:p>
            <a:r>
              <a:t>Texto del título</a:t>
            </a:r>
          </a:p>
        </p:txBody>
      </p:sp>
      <p:sp>
        <p:nvSpPr>
          <p:cNvPr id="82"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pic>
        <p:nvPicPr>
          <p:cNvPr id="83" name="pasted-image.pdf" descr="pasted-image.pdf"/>
          <p:cNvPicPr>
            <a:picLocks noChangeAspect="1"/>
          </p:cNvPicPr>
          <p:nvPr/>
        </p:nvPicPr>
        <p:blipFill>
          <a:blip r:embed="rId2">
            <a:extLst/>
          </a:blip>
          <a:stretch>
            <a:fillRect/>
          </a:stretch>
        </p:blipFill>
        <p:spPr>
          <a:xfrm>
            <a:off x="-1" y="10755078"/>
            <a:ext cx="24384001" cy="2975444"/>
          </a:xfrm>
          <a:prstGeom prst="rect">
            <a:avLst/>
          </a:prstGeom>
          <a:ln w="12700">
            <a:miter lim="400000"/>
          </a:ln>
        </p:spPr>
      </p:pic>
      <p:sp>
        <p:nvSpPr>
          <p:cNvPr id="8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foto">
    <p:bg>
      <p:bgPr>
        <a:solidFill>
          <a:srgbClr val="222222"/>
        </a:solidFill>
        <a:effectLst/>
      </p:bgPr>
    </p:bg>
    <p:spTree>
      <p:nvGrpSpPr>
        <p:cNvPr id="1" name=""/>
        <p:cNvGrpSpPr/>
        <p:nvPr/>
      </p:nvGrpSpPr>
      <p:grpSpPr>
        <a:xfrm>
          <a:off x="0" y="0"/>
          <a:ext cx="0" cy="0"/>
          <a:chOff x="0" y="0"/>
          <a:chExt cx="0" cy="0"/>
        </a:xfrm>
      </p:grpSpPr>
      <p:sp>
        <p:nvSpPr>
          <p:cNvPr id="91"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92"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93" name="Imagen"/>
          <p:cNvSpPr>
            <a:spLocks noGrp="1"/>
          </p:cNvSpPr>
          <p:nvPr>
            <p:ph type="pic" sz="half" idx="14"/>
          </p:nvPr>
        </p:nvSpPr>
        <p:spPr>
          <a:xfrm>
            <a:off x="13335000" y="2159000"/>
            <a:ext cx="10287000" cy="10795000"/>
          </a:xfrm>
          <a:prstGeom prst="rect">
            <a:avLst/>
          </a:prstGeom>
        </p:spPr>
        <p:txBody>
          <a:bodyPr lIns="91439" tIns="45719" rIns="91439" bIns="45719">
            <a:noAutofit/>
          </a:bodyPr>
          <a:lstStyle/>
          <a:p>
            <a:endParaRPr/>
          </a:p>
        </p:txBody>
      </p:sp>
      <p:sp>
        <p:nvSpPr>
          <p:cNvPr id="94" name="Texto del título"/>
          <p:cNvSpPr>
            <a:spLocks noGrp="1"/>
          </p:cNvSpPr>
          <p:nvPr>
            <p:ph type="title"/>
          </p:nvPr>
        </p:nvSpPr>
        <p:spPr>
          <a:xfrm>
            <a:off x="762000" y="2159000"/>
            <a:ext cx="11811000" cy="1016000"/>
          </a:xfrm>
          <a:prstGeom prst="rect">
            <a:avLst/>
          </a:prstGeom>
        </p:spPr>
        <p:txBody>
          <a:bodyPr/>
          <a:lstStyle/>
          <a:p>
            <a:r>
              <a:t>Texto del título</a:t>
            </a:r>
          </a:p>
        </p:txBody>
      </p:sp>
      <p:sp>
        <p:nvSpPr>
          <p:cNvPr id="95" name="Nivel de texto 1…"/>
          <p:cNvSpPr>
            <a:spLocks noGrp="1"/>
          </p:cNvSpPr>
          <p:nvPr>
            <p:ph type="body" sz="half" idx="1"/>
          </p:nvPr>
        </p:nvSpPr>
        <p:spPr>
          <a:xfrm>
            <a:off x="762000" y="3860800"/>
            <a:ext cx="11811000" cy="8585200"/>
          </a:xfrm>
          <a:prstGeom prst="rect">
            <a:avLst/>
          </a:prstGeom>
        </p:spPr>
        <p:txBody>
          <a:bodyPr/>
          <a:lstStyle>
            <a:lvl1pPr>
              <a:buClr>
                <a:schemeClr val="accent1"/>
              </a:buClr>
              <a:buChar char="▸"/>
              <a:defRPr sz="4000"/>
            </a:lvl1pPr>
            <a:lvl2pPr>
              <a:buClr>
                <a:schemeClr val="accent1"/>
              </a:buClr>
              <a:buChar char="▸"/>
              <a:defRPr sz="4000"/>
            </a:lvl2pPr>
            <a:lvl3pPr>
              <a:buClr>
                <a:schemeClr val="accent1"/>
              </a:buClr>
              <a:buChar char="▸"/>
              <a:defRPr sz="4000"/>
            </a:lvl3pPr>
            <a:lvl4pPr>
              <a:buClr>
                <a:schemeClr val="accent1"/>
              </a:buClr>
              <a:buChar char="▸"/>
              <a:defRPr sz="4000"/>
            </a:lvl4pPr>
            <a:lvl5pPr>
              <a:buClr>
                <a:schemeClr val="accent1"/>
              </a:buClr>
              <a:buChar char="▸"/>
              <a:defRPr sz="4000"/>
            </a:lvl5pPr>
          </a:lstStyle>
          <a:p>
            <a:r>
              <a:t>Nivel de texto 1</a:t>
            </a:r>
          </a:p>
          <a:p>
            <a:pPr lvl="1"/>
            <a:r>
              <a:t>Nivel de texto 2</a:t>
            </a:r>
          </a:p>
          <a:p>
            <a:pPr lvl="2"/>
            <a:r>
              <a:t>Nivel de texto 3</a:t>
            </a:r>
          </a:p>
          <a:p>
            <a:pPr lvl="3"/>
            <a:r>
              <a:t>Nivel de texto 4</a:t>
            </a:r>
          </a:p>
          <a:p>
            <a:pPr lvl="4"/>
            <a:r>
              <a:t>Nivel de texto 5</a:t>
            </a:r>
          </a:p>
        </p:txBody>
      </p:sp>
      <p:sp>
        <p:nvSpPr>
          <p:cNvPr id="9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bg>
      <p:bgPr>
        <a:solidFill>
          <a:srgbClr val="222222"/>
        </a:solidFill>
        <a:effectLst/>
      </p:bgPr>
    </p:bg>
    <p:spTree>
      <p:nvGrpSpPr>
        <p:cNvPr id="1" name=""/>
        <p:cNvGrpSpPr/>
        <p:nvPr/>
      </p:nvGrpSpPr>
      <p:grpSpPr>
        <a:xfrm>
          <a:off x="0" y="0"/>
          <a:ext cx="0" cy="0"/>
          <a:chOff x="0" y="0"/>
          <a:chExt cx="0" cy="0"/>
        </a:xfrm>
      </p:grpSpPr>
      <p:sp>
        <p:nvSpPr>
          <p:cNvPr id="10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04"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05" name="Nivel de texto 1…"/>
          <p:cNvSpPr>
            <a:spLocks noGrp="1"/>
          </p:cNvSpPr>
          <p:nvPr>
            <p:ph type="body" idx="1"/>
          </p:nvPr>
        </p:nvSpPr>
        <p:spPr>
          <a:prstGeom prst="rect">
            <a:avLst/>
          </a:prstGeom>
        </p:spPr>
        <p:txBody>
          <a:bodyPr/>
          <a:lstStyle>
            <a:lvl1pPr>
              <a:buClr>
                <a:schemeClr val="accent1"/>
              </a:buClr>
              <a:buSzPct val="125000"/>
              <a:buChar char="▸"/>
            </a:lvl1pPr>
            <a:lvl2pPr>
              <a:buClr>
                <a:schemeClr val="accent1"/>
              </a:buClr>
              <a:buSzPct val="125000"/>
              <a:buChar char="▸"/>
            </a:lvl2pPr>
            <a:lvl3pPr>
              <a:buClr>
                <a:schemeClr val="accent1"/>
              </a:buClr>
              <a:buSzPct val="125000"/>
              <a:buChar char="▸"/>
            </a:lvl3pPr>
            <a:lvl4pPr>
              <a:buClr>
                <a:schemeClr val="accent1"/>
              </a:buClr>
              <a:buSzPct val="125000"/>
              <a:buChar char="▸"/>
            </a:lvl4pPr>
            <a:lvl5pPr>
              <a:buClr>
                <a:schemeClr val="accent1"/>
              </a:buClr>
              <a:buSzPct val="125000"/>
              <a:buChar char="▸"/>
            </a:lvl5pPr>
          </a:lstStyle>
          <a:p>
            <a:r>
              <a:t>Nivel de texto 1</a:t>
            </a:r>
          </a:p>
          <a:p>
            <a:pPr lvl="1"/>
            <a:r>
              <a:t>Nivel de texto 2</a:t>
            </a:r>
          </a:p>
          <a:p>
            <a:pPr lvl="2"/>
            <a:r>
              <a:t>Nivel de texto 3</a:t>
            </a:r>
          </a:p>
          <a:p>
            <a:pPr lvl="3"/>
            <a:r>
              <a:t>Nivel de texto 4</a:t>
            </a:r>
          </a:p>
          <a:p>
            <a:pPr lvl="4"/>
            <a:r>
              <a:t>Nivel de texto 5</a:t>
            </a:r>
          </a:p>
        </p:txBody>
      </p:sp>
      <p:sp>
        <p:nvSpPr>
          <p:cNvPr id="10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bg>
      <p:bgPr>
        <a:solidFill>
          <a:srgbClr val="222222"/>
        </a:solidFill>
        <a:effectLst/>
      </p:bgPr>
    </p:bg>
    <p:spTree>
      <p:nvGrpSpPr>
        <p:cNvPr id="1" name=""/>
        <p:cNvGrpSpPr/>
        <p:nvPr/>
      </p:nvGrpSpPr>
      <p:grpSpPr>
        <a:xfrm>
          <a:off x="0" y="0"/>
          <a:ext cx="0" cy="0"/>
          <a:chOff x="0" y="0"/>
          <a:chExt cx="0" cy="0"/>
        </a:xfrm>
      </p:grpSpPr>
      <p:sp>
        <p:nvSpPr>
          <p:cNvPr id="113" name="Imagen"/>
          <p:cNvSpPr>
            <a:spLocks noGrp="1"/>
          </p:cNvSpPr>
          <p:nvPr>
            <p:ph type="pic" sz="half" idx="13"/>
          </p:nvPr>
        </p:nvSpPr>
        <p:spPr>
          <a:xfrm>
            <a:off x="12192000" y="0"/>
            <a:ext cx="12192000" cy="6832600"/>
          </a:xfrm>
          <a:prstGeom prst="rect">
            <a:avLst/>
          </a:prstGeom>
        </p:spPr>
        <p:txBody>
          <a:bodyPr lIns="91439" tIns="45719" rIns="91439" bIns="45719">
            <a:noAutofit/>
          </a:bodyPr>
          <a:lstStyle/>
          <a:p>
            <a:endParaRPr/>
          </a:p>
        </p:txBody>
      </p:sp>
      <p:sp>
        <p:nvSpPr>
          <p:cNvPr id="114" name="Imagen"/>
          <p:cNvSpPr>
            <a:spLocks noGrp="1"/>
          </p:cNvSpPr>
          <p:nvPr>
            <p:ph type="pic" sz="half" idx="14"/>
          </p:nvPr>
        </p:nvSpPr>
        <p:spPr>
          <a:xfrm>
            <a:off x="12192000" y="6896100"/>
            <a:ext cx="12192000" cy="6819900"/>
          </a:xfrm>
          <a:prstGeom prst="rect">
            <a:avLst/>
          </a:prstGeom>
        </p:spPr>
        <p:txBody>
          <a:bodyPr lIns="91439" tIns="45719" rIns="91439" bIns="45719">
            <a:noAutofit/>
          </a:bodyPr>
          <a:lstStyle/>
          <a:p>
            <a:endParaRPr/>
          </a:p>
        </p:txBody>
      </p:sp>
      <p:sp>
        <p:nvSpPr>
          <p:cNvPr id="115" name="Imagen"/>
          <p:cNvSpPr>
            <a:spLocks noGrp="1"/>
          </p:cNvSpPr>
          <p:nvPr>
            <p:ph type="pic" idx="15"/>
          </p:nvPr>
        </p:nvSpPr>
        <p:spPr>
          <a:xfrm>
            <a:off x="0" y="0"/>
            <a:ext cx="12128500" cy="13716000"/>
          </a:xfrm>
          <a:prstGeom prst="rect">
            <a:avLst/>
          </a:prstGeom>
        </p:spPr>
        <p:txBody>
          <a:bodyPr lIns="91439" tIns="45719" rIns="91439" bIns="45719">
            <a:noAutofit/>
          </a:bodyPr>
          <a:lstStyle/>
          <a:p>
            <a:endParaRPr/>
          </a:p>
        </p:txBody>
      </p:sp>
      <p:sp>
        <p:nvSpPr>
          <p:cNvPr id="11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bg>
      <p:bgPr>
        <a:solidFill>
          <a:srgbClr val="222222"/>
        </a:solidFill>
        <a:effectLst/>
      </p:bgPr>
    </p:bg>
    <p:spTree>
      <p:nvGrpSpPr>
        <p:cNvPr id="1" name=""/>
        <p:cNvGrpSpPr/>
        <p:nvPr/>
      </p:nvGrpSpPr>
      <p:grpSpPr>
        <a:xfrm>
          <a:off x="0" y="0"/>
          <a:ext cx="0" cy="0"/>
          <a:chOff x="0" y="0"/>
          <a:chExt cx="0" cy="0"/>
        </a:xfrm>
      </p:grpSpPr>
      <p:sp>
        <p:nvSpPr>
          <p:cNvPr id="12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4" name="Bocadillo cuadrado"/>
          <p:cNvSpPr/>
          <p:nvPr/>
        </p:nvSpPr>
        <p:spPr>
          <a:xfrm>
            <a:off x="876300" y="3314700"/>
            <a:ext cx="22631400" cy="7317185"/>
          </a:xfrm>
          <a:custGeom>
            <a:avLst/>
            <a:gdLst/>
            <a:ahLst/>
            <a:cxnLst>
              <a:cxn ang="0">
                <a:pos x="wd2" y="hd2"/>
              </a:cxn>
              <a:cxn ang="5400000">
                <a:pos x="wd2" y="hd2"/>
              </a:cxn>
              <a:cxn ang="10800000">
                <a:pos x="wd2" y="hd2"/>
              </a:cxn>
              <a:cxn ang="16200000">
                <a:pos x="wd2" y="hd2"/>
              </a:cxn>
            </a:cxnLst>
            <a:rect l="0" t="0"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w="12700">
            <a:miter lim="400000"/>
          </a:ln>
        </p:spPr>
        <p:txBody>
          <a:bodyPr lIns="50800" tIns="50800" rIns="50800" bIns="50800" anchor="ctr"/>
          <a:lstStyle/>
          <a:p>
            <a:pPr algn="ctr">
              <a:lnSpc>
                <a:spcPct val="80000"/>
              </a:lnSpc>
              <a:spcBef>
                <a:spcPts val="0"/>
              </a:spcBef>
              <a:defRPr sz="4000" cap="all">
                <a:solidFill>
                  <a:srgbClr val="FFFFFF"/>
                </a:solidFill>
                <a:latin typeface="+mn-lt"/>
                <a:ea typeface="+mn-ea"/>
                <a:cs typeface="+mn-cs"/>
                <a:sym typeface="DIN Condensed"/>
              </a:defRPr>
            </a:pPr>
            <a:endParaRPr/>
          </a:p>
        </p:txBody>
      </p:sp>
      <p:sp>
        <p:nvSpPr>
          <p:cNvPr id="125" name="Escribir una cita aquí"/>
          <p:cNvSpPr>
            <a:spLocks noGrp="1"/>
          </p:cNvSpPr>
          <p:nvPr>
            <p:ph type="body" sz="quarter" idx="13"/>
          </p:nvPr>
        </p:nvSpPr>
        <p:spPr>
          <a:xfrm>
            <a:off x="1676400" y="4089400"/>
            <a:ext cx="21056600" cy="1805946"/>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26" name="Juan López"/>
          <p:cNvSpPr>
            <a:spLocks noGrp="1"/>
          </p:cNvSpPr>
          <p:nvPr>
            <p:ph type="body" sz="quarter" idx="14"/>
          </p:nvPr>
        </p:nvSpPr>
        <p:spPr>
          <a:xfrm>
            <a:off x="762000" y="10953750"/>
            <a:ext cx="22860000" cy="1206500"/>
          </a:xfrm>
          <a:prstGeom prst="rect">
            <a:avLst/>
          </a:prstGeom>
        </p:spPr>
        <p:txBody>
          <a:bodyPr anchor="ctr">
            <a:spAutoFit/>
          </a:bodyPr>
          <a:lstStyle>
            <a:lvl1pPr marL="0" indent="0" algn="r">
              <a:lnSpc>
                <a:spcPct val="80000"/>
              </a:lnSpc>
              <a:spcBef>
                <a:spcPts val="0"/>
              </a:spcBef>
              <a:buClrTx/>
              <a:buSzTx/>
              <a:buFontTx/>
              <a:buNone/>
              <a:defRPr sz="8700">
                <a:latin typeface="+mn-lt"/>
                <a:ea typeface="+mn-ea"/>
                <a:cs typeface="+mn-cs"/>
                <a:sym typeface="DIN Condensed"/>
              </a:defRPr>
            </a:lvl1pPr>
          </a:lstStyle>
          <a:p>
            <a:r>
              <a:t>Juan López</a:t>
            </a:r>
          </a:p>
        </p:txBody>
      </p:sp>
      <p:sp>
        <p:nvSpPr>
          <p:cNvPr id="127" name="Texto"/>
          <p:cNvSpPr>
            <a:spLocks noGrp="1"/>
          </p:cNvSpPr>
          <p:nvPr>
            <p:ph type="body" sz="quarter" idx="15"/>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2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Cita alt.">
    <p:bg>
      <p:bgPr>
        <a:solidFill>
          <a:schemeClr val="accent1"/>
        </a:solidFill>
        <a:effectLst/>
      </p:bgPr>
    </p:bg>
    <p:spTree>
      <p:nvGrpSpPr>
        <p:cNvPr id="1" name=""/>
        <p:cNvGrpSpPr/>
        <p:nvPr/>
      </p:nvGrpSpPr>
      <p:grpSpPr>
        <a:xfrm>
          <a:off x="0" y="0"/>
          <a:ext cx="0" cy="0"/>
          <a:chOff x="0" y="0"/>
          <a:chExt cx="0" cy="0"/>
        </a:xfrm>
      </p:grpSpPr>
      <p:sp>
        <p:nvSpPr>
          <p:cNvPr id="135" name="Escribir una cita aquí"/>
          <p:cNvSpPr>
            <a:spLocks noGrp="1"/>
          </p:cNvSpPr>
          <p:nvPr>
            <p:ph type="body" sz="quarter" idx="13"/>
          </p:nvPr>
        </p:nvSpPr>
        <p:spPr>
          <a:xfrm>
            <a:off x="11049000" y="3721100"/>
            <a:ext cx="12573000" cy="3509777"/>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36" name="Imagen"/>
          <p:cNvSpPr>
            <a:spLocks noGrp="1"/>
          </p:cNvSpPr>
          <p:nvPr>
            <p:ph type="pic" idx="14"/>
          </p:nvPr>
        </p:nvSpPr>
        <p:spPr>
          <a:xfrm>
            <a:off x="0" y="0"/>
            <a:ext cx="10287000" cy="13716000"/>
          </a:xfrm>
          <a:prstGeom prst="rect">
            <a:avLst/>
          </a:prstGeom>
        </p:spPr>
        <p:txBody>
          <a:bodyPr lIns="91439" tIns="45719" rIns="91439" bIns="45719">
            <a:noAutofit/>
          </a:bodyPr>
          <a:lstStyle/>
          <a:p>
            <a:endParaRPr/>
          </a:p>
        </p:txBody>
      </p:sp>
      <p:sp>
        <p:nvSpPr>
          <p:cNvPr id="137" name="Juan López"/>
          <p:cNvSpPr>
            <a:spLocks noGrp="1"/>
          </p:cNvSpPr>
          <p:nvPr>
            <p:ph type="body" sz="quarter" idx="15"/>
          </p:nvPr>
        </p:nvSpPr>
        <p:spPr>
          <a:xfrm>
            <a:off x="11049000" y="10953750"/>
            <a:ext cx="12573000" cy="1206500"/>
          </a:xfrm>
          <a:prstGeom prst="rect">
            <a:avLst/>
          </a:prstGeom>
        </p:spPr>
        <p:txBody>
          <a:bodyPr anchor="ctr">
            <a:spAutoFit/>
          </a:bodyPr>
          <a:lstStyle>
            <a:lvl1pPr marL="0" indent="0" defTabSz="647700">
              <a:spcBef>
                <a:spcPts val="0"/>
              </a:spcBef>
              <a:buClrTx/>
              <a:buSzTx/>
              <a:buFontTx/>
              <a:buNone/>
              <a:defRPr sz="8700">
                <a:solidFill>
                  <a:srgbClr val="232323"/>
                </a:solidFill>
                <a:latin typeface="+mn-lt"/>
                <a:ea typeface="+mn-ea"/>
                <a:cs typeface="+mn-cs"/>
                <a:sym typeface="DIN Condensed"/>
              </a:defRPr>
            </a:lvl1pPr>
          </a:lstStyle>
          <a:p>
            <a:r>
              <a:t>Juan López</a:t>
            </a:r>
          </a:p>
        </p:txBody>
      </p:sp>
      <p:sp>
        <p:nvSpPr>
          <p:cNvPr id="13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222222"/>
        </a:solidFill>
        <a:effectLst/>
      </p:bgPr>
    </p:bg>
    <p:spTree>
      <p:nvGrpSpPr>
        <p:cNvPr id="1" name=""/>
        <p:cNvGrpSpPr/>
        <p:nvPr/>
      </p:nvGrpSpPr>
      <p:grpSpPr>
        <a:xfrm>
          <a:off x="0" y="0"/>
          <a:ext cx="0" cy="0"/>
          <a:chOff x="0" y="0"/>
          <a:chExt cx="0" cy="0"/>
        </a:xfrm>
      </p:grpSpPr>
      <p:sp>
        <p:nvSpPr>
          <p:cNvPr id="145"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14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En blanco">
    <p:bg>
      <p:bgPr>
        <a:solidFill>
          <a:srgbClr val="222222"/>
        </a:solidFill>
        <a:effectLst/>
      </p:bgPr>
    </p:bg>
    <p:spTree>
      <p:nvGrpSpPr>
        <p:cNvPr id="1" name=""/>
        <p:cNvGrpSpPr/>
        <p:nvPr/>
      </p:nvGrpSpPr>
      <p:grpSpPr>
        <a:xfrm>
          <a:off x="0" y="0"/>
          <a:ext cx="0" cy="0"/>
          <a:chOff x="0" y="0"/>
          <a:chExt cx="0" cy="0"/>
        </a:xfrm>
      </p:grpSpPr>
      <p:sp>
        <p:nvSpPr>
          <p:cNvPr id="15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En blanco alt.">
    <p:spTree>
      <p:nvGrpSpPr>
        <p:cNvPr id="1" name=""/>
        <p:cNvGrpSpPr/>
        <p:nvPr/>
      </p:nvGrpSpPr>
      <p:grpSpPr>
        <a:xfrm>
          <a:off x="0" y="0"/>
          <a:ext cx="0" cy="0"/>
          <a:chOff x="0" y="0"/>
          <a:chExt cx="0" cy="0"/>
        </a:xfrm>
      </p:grpSpPr>
      <p:sp>
        <p:nvSpPr>
          <p:cNvPr id="160"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a:spLocks noGrp="1"/>
          </p:cNvSpPr>
          <p:nvPr>
            <p:ph type="title"/>
          </p:nvPr>
        </p:nvSpPr>
        <p:spPr>
          <a:xfrm>
            <a:off x="762000" y="2159000"/>
            <a:ext cx="22860000" cy="1016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ormAutofit/>
          </a:bodyPr>
          <a:lstStyle/>
          <a:p>
            <a:r>
              <a:t>Texto del título</a:t>
            </a:r>
          </a:p>
        </p:txBody>
      </p:sp>
      <p:sp>
        <p:nvSpPr>
          <p:cNvPr id="3" name="Nivel de texto 1…"/>
          <p:cNvSpPr>
            <a:spLocks noGrp="1"/>
          </p:cNvSpPr>
          <p:nvPr>
            <p:ph type="body" idx="1"/>
          </p:nvPr>
        </p:nvSpPr>
        <p:spPr>
          <a:xfrm>
            <a:off x="762000" y="3860800"/>
            <a:ext cx="22860000" cy="85852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a:spLocks noGrp="1"/>
          </p:cNvSpPr>
          <p:nvPr>
            <p:ph type="sldNum" sz="quarter" idx="2"/>
          </p:nvPr>
        </p:nvSpPr>
        <p:spPr>
          <a:xfrm>
            <a:off x="23059652" y="609600"/>
            <a:ext cx="553196" cy="635000"/>
          </a:xfrm>
          <a:prstGeom prst="rect">
            <a:avLst/>
          </a:prstGeom>
          <a:ln w="12700">
            <a:miter lim="400000"/>
          </a:ln>
        </p:spPr>
        <p:txBody>
          <a:bodyPr wrap="none" lIns="50800" tIns="50800" rIns="50800" bIns="50800">
            <a:spAutoFit/>
          </a:bodyPr>
          <a:lstStyle>
            <a:lvl1pPr algn="r">
              <a:lnSpc>
                <a:spcPct val="80000"/>
              </a:lnSpc>
              <a:spcBef>
                <a:spcPts val="0"/>
              </a:spcBef>
              <a:defRPr sz="3600">
                <a:latin typeface="DIN Alternate"/>
                <a:ea typeface="DIN Alternate"/>
                <a:cs typeface="DIN Alternate"/>
                <a:sym typeface="DIN Alternate"/>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1pPr>
      <a:lvl2pPr marL="0" marR="0" indent="228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2pPr>
      <a:lvl3pPr marL="0" marR="0" indent="457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3pPr>
      <a:lvl4pPr marL="0" marR="0" indent="685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4pPr>
      <a:lvl5pPr marL="0" marR="0" indent="9144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5pPr>
      <a:lvl6pPr marL="0" marR="0" indent="11430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6pPr>
      <a:lvl7pPr marL="0" marR="0" indent="1371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7pPr>
      <a:lvl8pPr marL="0" marR="0" indent="1600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8pPr>
      <a:lvl9pPr marL="0" marR="0" indent="1828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9pPr>
    </p:titleStyle>
    <p:bodyStyle>
      <a:lvl1pPr marL="63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1pPr>
      <a:lvl2pPr marL="127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2pPr>
      <a:lvl3pPr marL="190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3pPr>
      <a:lvl4pPr marL="254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4pPr>
      <a:lvl5pPr marL="317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5pPr>
      <a:lvl6pPr marL="381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6pPr>
      <a:lvl7pPr marL="444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7pPr>
      <a:lvl8pPr marL="508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8pPr>
      <a:lvl9pPr marL="571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9pPr>
    </p:bodyStyle>
    <p:otherStyle>
      <a:lvl1pPr marL="0" marR="0" indent="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1pPr>
      <a:lvl2pPr marL="0" marR="0" indent="228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2pPr>
      <a:lvl3pPr marL="0" marR="0" indent="457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3pPr>
      <a:lvl4pPr marL="0" marR="0" indent="685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4pPr>
      <a:lvl5pPr marL="0" marR="0" indent="9144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5pPr>
      <a:lvl6pPr marL="0" marR="0" indent="11430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6pPr>
      <a:lvl7pPr marL="0" marR="0" indent="1371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7pPr>
      <a:lvl8pPr marL="0" marR="0" indent="1600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8pPr>
      <a:lvl9pPr marL="0" marR="0" indent="1828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mailto:brayant.mejia@intelmas.com" TargetMode="External"/><Relationship Id="rId7" Type="http://schemas.openxmlformats.org/officeDocument/2006/relationships/image" Target="../media/image6.png"/><Relationship Id="rId2" Type="http://schemas.openxmlformats.org/officeDocument/2006/relationships/hyperlink" Target="mailto:pablo.ramirez@intelmas.com" TargetMode="External"/><Relationship Id="rId1" Type="http://schemas.openxmlformats.org/officeDocument/2006/relationships/slideLayout" Target="../slideLayouts/slideLayout8.xml"/><Relationship Id="rId6" Type="http://schemas.openxmlformats.org/officeDocument/2006/relationships/hyperlink" Target="mailto:alfreddy.baringin@intelmas.com" TargetMode="External"/><Relationship Id="rId5" Type="http://schemas.openxmlformats.org/officeDocument/2006/relationships/hyperlink" Target="mailto:martin.rodriguez@intelmas.com" TargetMode="External"/><Relationship Id="rId4" Type="http://schemas.openxmlformats.org/officeDocument/2006/relationships/hyperlink" Target="mailto:cesar.corona@intelmas.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6.xml"/><Relationship Id="rId4" Type="http://schemas.openxmlformats.org/officeDocument/2006/relationships/hyperlink" Target="http://intelma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Shape 169"/>
          <p:cNvPicPr preferRelativeResize="0"/>
          <p:nvPr/>
        </p:nvPicPr>
        <p:blipFill>
          <a:blip r:embed="rId3">
            <a:alphaModFix/>
          </a:blip>
          <a:stretch>
            <a:fillRect/>
          </a:stretch>
        </p:blipFill>
        <p:spPr>
          <a:xfrm>
            <a:off x="7086600" y="5372100"/>
            <a:ext cx="10210800" cy="2971800"/>
          </a:xfrm>
          <a:prstGeom prst="rect">
            <a:avLst/>
          </a:prstGeom>
          <a:noFill/>
          <a:ln>
            <a:noFill/>
          </a:ln>
        </p:spPr>
      </p:pic>
      <p:pic>
        <p:nvPicPr>
          <p:cNvPr id="170" name="Shape 170"/>
          <p:cNvPicPr preferRelativeResize="0"/>
          <p:nvPr/>
        </p:nvPicPr>
        <p:blipFill>
          <a:blip r:embed="rId4">
            <a:alphaModFix/>
          </a:blip>
          <a:stretch>
            <a:fillRect/>
          </a:stretch>
        </p:blipFill>
        <p:spPr>
          <a:xfrm>
            <a:off x="0" y="10864780"/>
            <a:ext cx="24384000" cy="2971800"/>
          </a:xfrm>
          <a:prstGeom prst="rect">
            <a:avLst/>
          </a:prstGeom>
          <a:noFill/>
          <a:ln>
            <a:noFill/>
          </a:ln>
        </p:spPr>
      </p:pic>
    </p:spTree>
    <p:extLst>
      <p:ext uri="{BB962C8B-B14F-4D97-AF65-F5344CB8AC3E}">
        <p14:creationId xmlns:p14="http://schemas.microsoft.com/office/powerpoint/2010/main" val="39456530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asted-image.pdf" descr="pasted-image.pdf"/>
          <p:cNvPicPr>
            <a:picLocks noChangeAspect="1"/>
          </p:cNvPicPr>
          <p:nvPr/>
        </p:nvPicPr>
        <p:blipFill>
          <a:blip r:embed="rId2">
            <a:extLst/>
          </a:blip>
          <a:stretch>
            <a:fillRect/>
          </a:stretch>
        </p:blipFill>
        <p:spPr>
          <a:xfrm>
            <a:off x="0" y="0"/>
            <a:ext cx="24591348" cy="8896639"/>
          </a:xfrm>
          <a:prstGeom prst="rect">
            <a:avLst/>
          </a:prstGeom>
          <a:ln w="12700">
            <a:miter lim="400000"/>
          </a:ln>
        </p:spPr>
      </p:pic>
      <p:pic>
        <p:nvPicPr>
          <p:cNvPr id="174" name="logo.png" descr="logo.png"/>
          <p:cNvPicPr>
            <a:picLocks noChangeAspect="1"/>
          </p:cNvPicPr>
          <p:nvPr/>
        </p:nvPicPr>
        <p:blipFill>
          <a:blip r:embed="rId3">
            <a:extLst/>
          </a:blip>
          <a:stretch>
            <a:fillRect/>
          </a:stretch>
        </p:blipFill>
        <p:spPr>
          <a:xfrm>
            <a:off x="9273737" y="2077070"/>
            <a:ext cx="5836526" cy="2849867"/>
          </a:xfrm>
          <a:prstGeom prst="rect">
            <a:avLst/>
          </a:prstGeom>
          <a:ln w="12700">
            <a:miter lim="400000"/>
          </a:ln>
        </p:spPr>
      </p:pic>
      <p:sp>
        <p:nvSpPr>
          <p:cNvPr id="175" name="Agenda"/>
          <p:cNvSpPr/>
          <p:nvPr/>
        </p:nvSpPr>
        <p:spPr>
          <a:xfrm>
            <a:off x="6929740" y="8896640"/>
            <a:ext cx="10731867" cy="281102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defRPr sz="8000">
                <a:solidFill>
                  <a:srgbClr val="FFFFFF"/>
                </a:solidFill>
                <a:latin typeface="Arial"/>
                <a:ea typeface="Arial"/>
                <a:cs typeface="Arial"/>
                <a:sym typeface="Arial"/>
              </a:defRPr>
            </a:lvl1pPr>
          </a:lstStyle>
          <a:p>
            <a:pPr algn="ctr"/>
            <a:r>
              <a:rPr lang="pt-BR" sz="8800" b="1" dirty="0" smtClean="0">
                <a:solidFill>
                  <a:srgbClr val="00B0F0"/>
                </a:solidFill>
              </a:rPr>
              <a:t>OPM – </a:t>
            </a:r>
            <a:r>
              <a:rPr lang="pt-BR" sz="8800" b="1" dirty="0" err="1" smtClean="0">
                <a:solidFill>
                  <a:schemeClr val="tx2"/>
                </a:solidFill>
              </a:rPr>
              <a:t>Huawei</a:t>
            </a:r>
            <a:r>
              <a:rPr lang="pt-BR" sz="8800" b="1" dirty="0">
                <a:solidFill>
                  <a:schemeClr val="tx2"/>
                </a:solidFill>
              </a:rPr>
              <a:t> </a:t>
            </a:r>
            <a:r>
              <a:rPr lang="pt-BR" sz="8800" b="1" dirty="0" err="1">
                <a:solidFill>
                  <a:srgbClr val="00B0F0"/>
                </a:solidFill>
              </a:rPr>
              <a:t>P</a:t>
            </a:r>
            <a:r>
              <a:rPr lang="pt-BR" sz="8800" b="1" dirty="0" err="1" smtClean="0">
                <a:solidFill>
                  <a:schemeClr val="tx2"/>
                </a:solidFill>
              </a:rPr>
              <a:t>lugin</a:t>
            </a:r>
            <a:endParaRPr sz="8800" b="1"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46"/>
          <p:cNvSpPr>
            <a:spLocks noChangeArrowheads="1"/>
          </p:cNvSpPr>
          <p:nvPr/>
        </p:nvSpPr>
        <p:spPr bwMode="gray">
          <a:xfrm>
            <a:off x="15198517" y="13036293"/>
            <a:ext cx="3906402" cy="309972"/>
          </a:xfrm>
          <a:prstGeom prst="rect">
            <a:avLst/>
          </a:prstGeom>
          <a:solidFill>
            <a:srgbClr val="FFFFFF"/>
          </a:solidFill>
          <a:ln>
            <a:noFill/>
          </a:ln>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Planned delivery at risk</a:t>
            </a:r>
          </a:p>
        </p:txBody>
      </p:sp>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Summary</a:t>
            </a:r>
            <a:r>
              <a:rPr lang="pt-BR" sz="6873" dirty="0" smtClean="0">
                <a:solidFill>
                  <a:srgbClr val="00B0F0"/>
                </a:solidFill>
                <a:latin typeface="Arial Black"/>
                <a:ea typeface="Arial Black"/>
                <a:cs typeface="Arial Black"/>
                <a:sym typeface="Avenir Next Medium"/>
              </a:rPr>
              <a:t> – </a:t>
            </a:r>
            <a:r>
              <a:rPr lang="pt-BR" sz="6873" dirty="0" err="1" smtClean="0">
                <a:solidFill>
                  <a:srgbClr val="00B0F0"/>
                </a:solidFill>
                <a:latin typeface="Arial Black"/>
                <a:ea typeface="Arial Black"/>
                <a:cs typeface="Arial Black"/>
                <a:sym typeface="Avenir Next Medium"/>
              </a:rPr>
              <a:t>one</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page</a:t>
            </a:r>
            <a:r>
              <a:rPr lang="pt-BR" sz="6873" dirty="0" smtClean="0">
                <a:solidFill>
                  <a:srgbClr val="00B0F0"/>
                </a:solidFill>
                <a:latin typeface="Arial Black"/>
                <a:ea typeface="Arial Black"/>
                <a:cs typeface="Arial Black"/>
                <a:sym typeface="Avenir Next Medium"/>
              </a:rPr>
              <a:t> – W1</a:t>
            </a:r>
            <a:endParaRPr sz="6873" dirty="0">
              <a:solidFill>
                <a:srgbClr val="00B0F0"/>
              </a:solidFill>
              <a:latin typeface="Arial Black"/>
              <a:ea typeface="Arial Black"/>
              <a:cs typeface="Arial Black"/>
              <a:sym typeface="Avenir Next Medium"/>
            </a:endParaRPr>
          </a:p>
        </p:txBody>
      </p:sp>
      <p:pic>
        <p:nvPicPr>
          <p:cNvPr id="5" name="Shape 249"/>
          <p:cNvPicPr preferRelativeResize="0"/>
          <p:nvPr/>
        </p:nvPicPr>
        <p:blipFill>
          <a:blip r:embed="rId3">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
        <p:nvSpPr>
          <p:cNvPr id="143" name="Rectangle 2"/>
          <p:cNvSpPr>
            <a:spLocks noChangeArrowheads="1"/>
          </p:cNvSpPr>
          <p:nvPr/>
        </p:nvSpPr>
        <p:spPr bwMode="gray">
          <a:xfrm>
            <a:off x="16663418" y="7647298"/>
            <a:ext cx="4883002" cy="5275983"/>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44" name="Rectangle 42"/>
          <p:cNvSpPr>
            <a:spLocks noChangeArrowheads="1"/>
          </p:cNvSpPr>
          <p:nvPr/>
        </p:nvSpPr>
        <p:spPr bwMode="gray">
          <a:xfrm>
            <a:off x="9501681" y="13013689"/>
            <a:ext cx="976600" cy="348719"/>
          </a:xfrm>
          <a:prstGeom prst="rect">
            <a:avLst/>
          </a:prstGeom>
          <a:solidFill>
            <a:srgbClr val="0099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Green</a:t>
            </a:r>
          </a:p>
        </p:txBody>
      </p:sp>
      <p:sp>
        <p:nvSpPr>
          <p:cNvPr id="145" name="Rectangle 43"/>
          <p:cNvSpPr>
            <a:spLocks noChangeArrowheads="1"/>
          </p:cNvSpPr>
          <p:nvPr/>
        </p:nvSpPr>
        <p:spPr bwMode="gray">
          <a:xfrm>
            <a:off x="14059150" y="13036293"/>
            <a:ext cx="1139367" cy="309972"/>
          </a:xfrm>
          <a:prstGeom prst="rect">
            <a:avLst/>
          </a:prstGeom>
          <a:solidFill>
            <a:srgbClr val="FFCC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58585A"/>
                </a:solidFill>
                <a:effectLst/>
                <a:uLnTx/>
                <a:uFillTx/>
                <a:latin typeface="Calibri" pitchFamily="34" charset="0"/>
                <a:cs typeface="Calibri" pitchFamily="34" charset="0"/>
              </a:rPr>
              <a:t>Yellow</a:t>
            </a:r>
          </a:p>
        </p:txBody>
      </p:sp>
      <p:sp>
        <p:nvSpPr>
          <p:cNvPr id="146" name="Rectangle 44"/>
          <p:cNvSpPr>
            <a:spLocks noChangeArrowheads="1"/>
          </p:cNvSpPr>
          <p:nvPr/>
        </p:nvSpPr>
        <p:spPr bwMode="gray">
          <a:xfrm>
            <a:off x="17802785" y="13013689"/>
            <a:ext cx="976600" cy="309972"/>
          </a:xfrm>
          <a:prstGeom prst="rect">
            <a:avLst/>
          </a:prstGeom>
          <a:solidFill>
            <a:srgbClr val="C000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Red</a:t>
            </a:r>
          </a:p>
        </p:txBody>
      </p:sp>
      <p:sp>
        <p:nvSpPr>
          <p:cNvPr id="147" name="Rectangle 45"/>
          <p:cNvSpPr>
            <a:spLocks noChangeArrowheads="1"/>
          </p:cNvSpPr>
          <p:nvPr/>
        </p:nvSpPr>
        <p:spPr bwMode="gray">
          <a:xfrm>
            <a:off x="10478282" y="13036293"/>
            <a:ext cx="3580868" cy="309972"/>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On track; will complete as planned</a:t>
            </a:r>
          </a:p>
        </p:txBody>
      </p:sp>
      <p:sp>
        <p:nvSpPr>
          <p:cNvPr id="149" name="Rectangle 84"/>
          <p:cNvSpPr>
            <a:spLocks noChangeArrowheads="1"/>
          </p:cNvSpPr>
          <p:nvPr/>
        </p:nvSpPr>
        <p:spPr bwMode="gray">
          <a:xfrm>
            <a:off x="6222611" y="13036293"/>
            <a:ext cx="3279070" cy="326115"/>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Originally planned or completed activity</a:t>
            </a:r>
          </a:p>
        </p:txBody>
      </p:sp>
      <p:sp>
        <p:nvSpPr>
          <p:cNvPr id="150" name="Text Box 85"/>
          <p:cNvSpPr txBox="1">
            <a:spLocks noChangeArrowheads="1"/>
          </p:cNvSpPr>
          <p:nvPr/>
        </p:nvSpPr>
        <p:spPr bwMode="auto">
          <a:xfrm>
            <a:off x="2339945" y="12923281"/>
            <a:ext cx="32553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58585A"/>
                </a:solidFill>
                <a:effectLst/>
                <a:uLnTx/>
                <a:uFillTx/>
                <a:latin typeface="Calibri" pitchFamily="34" charset="0"/>
                <a:cs typeface="Calibri" pitchFamily="34" charset="0"/>
              </a:rPr>
              <a:t>Key Milestone Legend:</a:t>
            </a:r>
          </a:p>
        </p:txBody>
      </p:sp>
      <p:sp>
        <p:nvSpPr>
          <p:cNvPr id="151" name="Rectangle 2"/>
          <p:cNvSpPr>
            <a:spLocks noChangeArrowheads="1"/>
          </p:cNvSpPr>
          <p:nvPr/>
        </p:nvSpPr>
        <p:spPr bwMode="gray">
          <a:xfrm>
            <a:off x="16663418" y="2523074"/>
            <a:ext cx="4883002" cy="4969238"/>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52" name="Rectangle 3"/>
          <p:cNvSpPr>
            <a:spLocks noChangeArrowheads="1"/>
          </p:cNvSpPr>
          <p:nvPr/>
        </p:nvSpPr>
        <p:spPr bwMode="gray">
          <a:xfrm>
            <a:off x="2502713" y="2542447"/>
            <a:ext cx="14038630" cy="5047970"/>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Calibri" pitchFamily="34" charset="0"/>
              <a:cs typeface="Calibri" pitchFamily="34" charset="0"/>
            </a:endParaRPr>
          </a:p>
        </p:txBody>
      </p:sp>
      <p:sp>
        <p:nvSpPr>
          <p:cNvPr id="153" name="Rectangle 23"/>
          <p:cNvSpPr>
            <a:spLocks noChangeArrowheads="1"/>
          </p:cNvSpPr>
          <p:nvPr/>
        </p:nvSpPr>
        <p:spPr bwMode="gray">
          <a:xfrm>
            <a:off x="2804505" y="6200148"/>
            <a:ext cx="7511010" cy="1278635"/>
          </a:xfrm>
          <a:prstGeom prst="rect">
            <a:avLst/>
          </a:prstGeom>
          <a:noFill/>
          <a:ln w="9525">
            <a:noFill/>
            <a:miter lim="800000"/>
            <a:headEnd/>
            <a:tailEnd/>
          </a:ln>
        </p:spPr>
        <p:txBody>
          <a:bodyPr/>
          <a:lstStyle/>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Analysis requirements for Huawei technology</a:t>
            </a:r>
            <a:r>
              <a:rPr kumimoji="0" lang="en-US" sz="2000" b="0" i="0" u="none" strike="sng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a:t>
            </a:r>
            <a:endParaRPr kumimoji="0" lang="en-US" sz="2000" b="0" i="0" u="none" strike="sng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Technical Analysis</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pt-BR" sz="2000" kern="1200" noProof="0" dirty="0" err="1" smtClean="0">
                <a:solidFill>
                  <a:srgbClr val="58585A"/>
                </a:solidFill>
                <a:latin typeface="Calibri" panose="020F0502020204030204" pitchFamily="34" charset="0"/>
                <a:cs typeface="Calibri" panose="020F0502020204030204" pitchFamily="34" charset="0"/>
              </a:rPr>
              <a:t>Solution</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proposal</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and</a:t>
            </a:r>
            <a:r>
              <a:rPr lang="pt-BR" sz="2000" kern="1200" noProof="0" dirty="0" smtClean="0">
                <a:solidFill>
                  <a:srgbClr val="58585A"/>
                </a:solidFill>
                <a:latin typeface="Calibri" panose="020F0502020204030204" pitchFamily="34" charset="0"/>
                <a:cs typeface="Calibri" panose="020F0502020204030204" pitchFamily="34" charset="0"/>
              </a:rPr>
              <a:t> time </a:t>
            </a:r>
            <a:r>
              <a:rPr lang="pt-BR" sz="2000" kern="1200" noProof="0" dirty="0" err="1" smtClean="0">
                <a:solidFill>
                  <a:srgbClr val="58585A"/>
                </a:solidFill>
                <a:latin typeface="Calibri" panose="020F0502020204030204" pitchFamily="34" charset="0"/>
                <a:cs typeface="Calibri" panose="020F0502020204030204" pitchFamily="34" charset="0"/>
              </a:rPr>
              <a:t>plan</a:t>
            </a:r>
            <a:r>
              <a:rPr lang="pt-BR" sz="2000" kern="1200" noProof="0" dirty="0" smtClean="0">
                <a:solidFill>
                  <a:srgbClr val="58585A"/>
                </a:solidFill>
                <a:latin typeface="Calibri" panose="020F0502020204030204" pitchFamily="34" charset="0"/>
                <a:cs typeface="Calibri" panose="020F0502020204030204" pitchFamily="34" charset="0"/>
              </a:rPr>
              <a:t>.</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54" name="Rectangle 24"/>
          <p:cNvSpPr>
            <a:spLocks noChangeArrowheads="1"/>
          </p:cNvSpPr>
          <p:nvPr/>
        </p:nvSpPr>
        <p:spPr bwMode="gray">
          <a:xfrm>
            <a:off x="2509494" y="7644068"/>
            <a:ext cx="6836203" cy="2353849"/>
          </a:xfrm>
          <a:prstGeom prst="rect">
            <a:avLst/>
          </a:prstGeom>
          <a:solidFill>
            <a:srgbClr val="FFFFFF"/>
          </a:solidFill>
          <a:ln w="9525">
            <a:solidFill>
              <a:srgbClr val="0070C0"/>
            </a:solidFill>
            <a:miter lim="800000"/>
            <a:headEnd/>
            <a:tailEnd/>
          </a:ln>
        </p:spPr>
        <p:txBody>
          <a:bodyPr tIns="9144" rIns="0"/>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1.	What has the team done since last met?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(Achievements) </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smtClean="0">
                <a:solidFill>
                  <a:srgbClr val="58585A"/>
                </a:solidFill>
                <a:latin typeface="Calibri" pitchFamily="34" charset="0"/>
                <a:cs typeface="Calibri" pitchFamily="34" charset="0"/>
              </a:rPr>
              <a:t>N/A</a:t>
            </a:r>
            <a:endParaRPr lang="pt-BR" sz="1800" kern="1200" dirty="0">
              <a:solidFill>
                <a:srgbClr val="58585A"/>
              </a:solidFill>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pt-BR"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endParaRPr>
          </a:p>
        </p:txBody>
      </p:sp>
      <p:sp>
        <p:nvSpPr>
          <p:cNvPr id="155" name="Rectangle 25"/>
          <p:cNvSpPr>
            <a:spLocks noChangeArrowheads="1"/>
          </p:cNvSpPr>
          <p:nvPr/>
        </p:nvSpPr>
        <p:spPr bwMode="gray">
          <a:xfrm>
            <a:off x="9389964" y="7647298"/>
            <a:ext cx="7110687" cy="2349160"/>
          </a:xfrm>
          <a:prstGeom prst="rect">
            <a:avLst/>
          </a:prstGeom>
          <a:solidFill>
            <a:srgbClr val="FFFFFF"/>
          </a:solidFill>
          <a:ln w="9525">
            <a:solidFill>
              <a:srgbClr val="0070C0"/>
            </a:solidFill>
            <a:miter lim="800000"/>
            <a:headEnd/>
            <a:tailEnd/>
          </a:ln>
        </p:spPr>
        <p:txBody>
          <a:bodyPr tIns="9144"/>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2.	What will the team do before we meet again?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(Next steps)</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228600" lvl="0" indent="-228600" defTabSz="914400" hangingPunct="1">
              <a:spcBef>
                <a:spcPct val="15000"/>
              </a:spcBef>
              <a:spcAft>
                <a:spcPct val="15000"/>
              </a:spcAft>
              <a:buFontTx/>
              <a:buAutoNum type="arabicPeriod"/>
              <a:tabLst>
                <a:tab pos="166688" algn="l"/>
              </a:tabLst>
              <a:defRPr/>
            </a:pPr>
            <a:r>
              <a:rPr lang="es-MX" sz="1800" kern="1200" dirty="0" smtClean="0">
                <a:solidFill>
                  <a:srgbClr val="58585A"/>
                </a:solidFill>
                <a:latin typeface="Calibri" panose="020F0502020204030204" pitchFamily="34" charset="0"/>
                <a:cs typeface="Calibri" panose="020F0502020204030204" pitchFamily="34" charset="0"/>
              </a:rPr>
              <a:t>Check </a:t>
            </a:r>
            <a:r>
              <a:rPr lang="es-MX" sz="1800" kern="1200" dirty="0" err="1" smtClean="0">
                <a:solidFill>
                  <a:srgbClr val="58585A"/>
                </a:solidFill>
                <a:latin typeface="Calibri" panose="020F0502020204030204" pitchFamily="34" charset="0"/>
                <a:cs typeface="Calibri" panose="020F0502020204030204" pitchFamily="34" charset="0"/>
              </a:rPr>
              <a:t>minimum</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information</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raw</a:t>
            </a:r>
            <a:r>
              <a:rPr lang="es-MX" sz="1800" kern="1200" dirty="0" smtClean="0">
                <a:solidFill>
                  <a:srgbClr val="58585A"/>
                </a:solidFill>
                <a:latin typeface="Calibri" panose="020F0502020204030204" pitchFamily="34" charset="0"/>
                <a:cs typeface="Calibri" panose="020F0502020204030204" pitchFamily="34" charset="0"/>
              </a:rPr>
              <a:t> data) </a:t>
            </a:r>
            <a:r>
              <a:rPr lang="es-MX" sz="1800" kern="1200" dirty="0" err="1" smtClean="0">
                <a:solidFill>
                  <a:srgbClr val="58585A"/>
                </a:solidFill>
                <a:latin typeface="Calibri" panose="020F0502020204030204" pitchFamily="34" charset="0"/>
                <a:cs typeface="Calibri" panose="020F0502020204030204" pitchFamily="34" charset="0"/>
              </a:rPr>
              <a:t>required</a:t>
            </a:r>
            <a:r>
              <a:rPr lang="es-MX" sz="1800" kern="1200" dirty="0" smtClean="0">
                <a:solidFill>
                  <a:srgbClr val="58585A"/>
                </a:solidFill>
                <a:latin typeface="Calibri" panose="020F0502020204030204" pitchFamily="34" charset="0"/>
                <a:cs typeface="Calibri" panose="020F0502020204030204" pitchFamily="34" charset="0"/>
              </a:rPr>
              <a:t> to </a:t>
            </a:r>
            <a:r>
              <a:rPr lang="es-MX" sz="1800" kern="1200" dirty="0" err="1" smtClean="0">
                <a:solidFill>
                  <a:srgbClr val="58585A"/>
                </a:solidFill>
                <a:latin typeface="Calibri" panose="020F0502020204030204" pitchFamily="34" charset="0"/>
                <a:cs typeface="Calibri" panose="020F0502020204030204" pitchFamily="34" charset="0"/>
              </a:rPr>
              <a:t>get</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all</a:t>
            </a:r>
            <a:r>
              <a:rPr lang="es-MX" sz="1800" kern="1200" dirty="0" smtClean="0">
                <a:solidFill>
                  <a:srgbClr val="58585A"/>
                </a:solidFill>
                <a:latin typeface="Calibri" panose="020F0502020204030204" pitchFamily="34" charset="0"/>
                <a:cs typeface="Calibri" panose="020F0502020204030204" pitchFamily="34" charset="0"/>
              </a:rPr>
              <a:t> OPM modules working for </a:t>
            </a:r>
            <a:r>
              <a:rPr lang="es-MX" sz="1800" kern="1200" dirty="0" err="1" smtClean="0">
                <a:solidFill>
                  <a:srgbClr val="58585A"/>
                </a:solidFill>
                <a:latin typeface="Calibri" panose="020F0502020204030204" pitchFamily="34" charset="0"/>
                <a:cs typeface="Calibri" panose="020F0502020204030204" pitchFamily="34" charset="0"/>
              </a:rPr>
              <a:t>Huawei</a:t>
            </a:r>
            <a:r>
              <a:rPr lang="es-MX" sz="1800" kern="1200" dirty="0" smtClean="0">
                <a:solidFill>
                  <a:srgbClr val="58585A"/>
                </a:solidFill>
                <a:latin typeface="Calibri" panose="020F0502020204030204" pitchFamily="34" charset="0"/>
                <a:cs typeface="Calibri" panose="020F0502020204030204" pitchFamily="34" charset="0"/>
              </a:rPr>
              <a:t>.</a:t>
            </a:r>
          </a:p>
          <a:p>
            <a:pPr marL="228600" lvl="0" indent="-228600" defTabSz="914400" hangingPunct="1">
              <a:spcBef>
                <a:spcPct val="15000"/>
              </a:spcBef>
              <a:spcAft>
                <a:spcPct val="15000"/>
              </a:spcAft>
              <a:buFontTx/>
              <a:buAutoNum type="arabicPeriod"/>
              <a:tabLst>
                <a:tab pos="166688" algn="l"/>
              </a:tabLst>
              <a:defRPr/>
            </a:pP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Analysis</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to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implement</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logic</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for</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new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raw</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data for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Huawei</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a:t>
            </a: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228600" lvl="0" indent="-228600" defTabSz="914400" hangingPunct="1">
              <a:spcBef>
                <a:spcPct val="15000"/>
              </a:spcBef>
              <a:spcAft>
                <a:spcPct val="15000"/>
              </a:spcAft>
              <a:buFontTx/>
              <a:buAutoNum type="arabicPeriod"/>
              <a:tabLst>
                <a:tab pos="166688" algn="l"/>
              </a:tabLst>
              <a:defRPr/>
            </a:pP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56" name="Rectangle 36"/>
          <p:cNvSpPr>
            <a:spLocks noChangeArrowheads="1"/>
          </p:cNvSpPr>
          <p:nvPr/>
        </p:nvSpPr>
        <p:spPr bwMode="gray">
          <a:xfrm>
            <a:off x="16829577" y="7779683"/>
            <a:ext cx="4554077" cy="4962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Scope Details / Initiative phases: </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Tool </a:t>
            </a:r>
            <a:r>
              <a:rPr lang="pt-BR" sz="1800" kern="1200" dirty="0" err="1">
                <a:solidFill>
                  <a:srgbClr val="58585A"/>
                </a:solidFill>
                <a:latin typeface="Calibri" pitchFamily="34" charset="0"/>
                <a:cs typeface="Calibri" pitchFamily="34" charset="0"/>
              </a:rPr>
              <a:t>was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requested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by</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Telcel</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Project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start </a:t>
            </a:r>
            <a:r>
              <a:rPr lang="pt-BR" sz="1800" kern="1200" dirty="0" err="1" smtClean="0">
                <a:solidFill>
                  <a:srgbClr val="58585A"/>
                </a:solidFill>
                <a:latin typeface="Calibri" pitchFamily="34" charset="0"/>
                <a:cs typeface="Calibri" pitchFamily="34" charset="0"/>
              </a:rPr>
              <a:t>officially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until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raw</a:t>
            </a:r>
            <a:r>
              <a:rPr lang="pt-BR" sz="1800" kern="1200" dirty="0" smtClean="0">
                <a:solidFill>
                  <a:srgbClr val="58585A"/>
                </a:solidFill>
                <a:latin typeface="Calibri" pitchFamily="34" charset="0"/>
                <a:cs typeface="Calibri" pitchFamily="34" charset="0"/>
              </a:rPr>
              <a:t> data.</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set a </a:t>
            </a:r>
            <a:r>
              <a:rPr lang="pt-BR" sz="1800" kern="1200" dirty="0" err="1" smtClean="0">
                <a:solidFill>
                  <a:srgbClr val="58585A"/>
                </a:solidFill>
                <a:latin typeface="Calibri" pitchFamily="34" charset="0"/>
                <a:cs typeface="Calibri" pitchFamily="34" charset="0"/>
              </a:rPr>
              <a:t>sequence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of</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recurrent</a:t>
            </a:r>
            <a:r>
              <a:rPr lang="pt-BR" sz="1800" kern="1200" dirty="0" smtClean="0">
                <a:solidFill>
                  <a:srgbClr val="58585A"/>
                </a:solidFill>
                <a:latin typeface="Calibri" pitchFamily="34" charset="0"/>
                <a:cs typeface="Calibri" pitchFamily="34" charset="0"/>
              </a:rPr>
              <a:t> meetings </a:t>
            </a:r>
            <a:r>
              <a:rPr lang="pt-BR" sz="1800" kern="1200" dirty="0" err="1" smtClean="0">
                <a:solidFill>
                  <a:srgbClr val="58585A"/>
                </a:solidFill>
                <a:latin typeface="Calibri" pitchFamily="34" charset="0"/>
                <a:cs typeface="Calibri" pitchFamily="34" charset="0"/>
              </a:rPr>
              <a:t>every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Monday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from</a:t>
            </a:r>
            <a:r>
              <a:rPr lang="pt-BR" sz="1800" kern="1200" dirty="0" smtClean="0">
                <a:solidFill>
                  <a:srgbClr val="58585A"/>
                </a:solidFill>
                <a:latin typeface="Calibri" pitchFamily="34" charset="0"/>
                <a:cs typeface="Calibri" pitchFamily="34" charset="0"/>
              </a:rPr>
              <a:t> 10am </a:t>
            </a:r>
            <a:r>
              <a:rPr lang="pt-BR" sz="1800" kern="1200" dirty="0" err="1" smtClean="0">
                <a:solidFill>
                  <a:srgbClr val="58585A"/>
                </a:solidFill>
                <a:latin typeface="Calibri" pitchFamily="34" charset="0"/>
                <a:cs typeface="Calibri" pitchFamily="34" charset="0"/>
              </a:rPr>
              <a:t>till</a:t>
            </a:r>
            <a:r>
              <a:rPr lang="pt-BR" sz="1800" kern="1200" dirty="0" smtClean="0">
                <a:solidFill>
                  <a:srgbClr val="58585A"/>
                </a:solidFill>
                <a:latin typeface="Calibri" pitchFamily="34" charset="0"/>
                <a:cs typeface="Calibri" pitchFamily="34" charset="0"/>
              </a:rPr>
              <a:t> 12pm. </a:t>
            </a:r>
            <a:r>
              <a:rPr lang="pt-BR" sz="1800" kern="1200" dirty="0" err="1" smtClean="0">
                <a:solidFill>
                  <a:srgbClr val="58585A"/>
                </a:solidFill>
                <a:latin typeface="Calibri" pitchFamily="34" charset="0"/>
                <a:cs typeface="Calibri" pitchFamily="34" charset="0"/>
              </a:rPr>
              <a:t>This</a:t>
            </a:r>
            <a:r>
              <a:rPr lang="pt-BR" sz="1800" kern="1200" dirty="0" smtClean="0">
                <a:solidFill>
                  <a:srgbClr val="58585A"/>
                </a:solidFill>
                <a:latin typeface="Calibri" pitchFamily="34" charset="0"/>
                <a:cs typeface="Calibri" pitchFamily="34" charset="0"/>
              </a:rPr>
              <a:t> file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be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send</a:t>
            </a:r>
            <a:r>
              <a:rPr lang="pt-BR" sz="1800" kern="1200" dirty="0" smtClean="0">
                <a:solidFill>
                  <a:srgbClr val="58585A"/>
                </a:solidFill>
                <a:latin typeface="Calibri" pitchFamily="34" charset="0"/>
                <a:cs typeface="Calibri" pitchFamily="34" charset="0"/>
              </a:rPr>
              <a:t> out </a:t>
            </a:r>
            <a:r>
              <a:rPr lang="pt-BR" sz="1800" kern="1200" dirty="0" err="1" smtClean="0">
                <a:solidFill>
                  <a:srgbClr val="58585A"/>
                </a:solidFill>
                <a:latin typeface="Calibri" pitchFamily="34" charset="0"/>
                <a:cs typeface="Calibri" pitchFamily="34" charset="0"/>
              </a:rPr>
              <a:t>after</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follow</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up</a:t>
            </a:r>
            <a:r>
              <a:rPr lang="pt-BR" sz="1800" kern="1200" dirty="0" smtClean="0">
                <a:solidFill>
                  <a:srgbClr val="58585A"/>
                </a:solidFill>
                <a:latin typeface="Calibri" pitchFamily="34" charset="0"/>
                <a:cs typeface="Calibri" pitchFamily="34" charset="0"/>
              </a:rPr>
              <a:t> meeting.</a:t>
            </a:r>
          </a:p>
          <a:p>
            <a:pPr marL="166688" indent="-166688" defTabSz="914400" fontAlgn="base" hangingPunct="1">
              <a:spcBef>
                <a:spcPct val="15000"/>
              </a:spcBef>
              <a:spcAft>
                <a:spcPct val="15000"/>
              </a:spcAft>
              <a:buClr>
                <a:srgbClr val="006699"/>
              </a:buClr>
              <a:buFont typeface="Wingdings" pitchFamily="2" charset="2"/>
              <a:buChar char="§"/>
            </a:pPr>
            <a:r>
              <a:rPr lang="en-US" sz="1800" kern="1200" dirty="0" smtClean="0">
                <a:solidFill>
                  <a:srgbClr val="58585A"/>
                </a:solidFill>
                <a:latin typeface="Calibri" pitchFamily="34" charset="0"/>
                <a:cs typeface="Calibri" pitchFamily="34" charset="0"/>
              </a:rPr>
              <a:t>This </a:t>
            </a:r>
            <a:r>
              <a:rPr lang="en-US" sz="1800" kern="1200" dirty="0">
                <a:solidFill>
                  <a:srgbClr val="58585A"/>
                </a:solidFill>
                <a:latin typeface="Calibri" pitchFamily="34" charset="0"/>
                <a:cs typeface="Calibri" pitchFamily="34" charset="0"/>
              </a:rPr>
              <a:t>phase aims to be finished </a:t>
            </a:r>
            <a:r>
              <a:rPr lang="en-US" sz="1800" kern="1200" dirty="0" smtClean="0">
                <a:solidFill>
                  <a:srgbClr val="58585A"/>
                </a:solidFill>
                <a:latin typeface="Calibri" pitchFamily="34" charset="0"/>
                <a:cs typeface="Calibri" pitchFamily="34" charset="0"/>
              </a:rPr>
              <a:t>on Jul 10, </a:t>
            </a:r>
            <a:r>
              <a:rPr lang="en-US" sz="1800" kern="1200" dirty="0">
                <a:solidFill>
                  <a:srgbClr val="58585A"/>
                </a:solidFill>
                <a:latin typeface="Calibri" pitchFamily="34" charset="0"/>
                <a:cs typeface="Calibri" pitchFamily="34" charset="0"/>
              </a:rPr>
              <a:t>however we plan to keep doing maintenance, creating other reports, etc. according to </a:t>
            </a:r>
            <a:r>
              <a:rPr lang="en-US" sz="1800" kern="1200" dirty="0" smtClean="0">
                <a:solidFill>
                  <a:srgbClr val="58585A"/>
                </a:solidFill>
                <a:latin typeface="Calibri" pitchFamily="34" charset="0"/>
                <a:cs typeface="Calibri" pitchFamily="34" charset="0"/>
              </a:rPr>
              <a:t>client´s </a:t>
            </a:r>
            <a:r>
              <a:rPr lang="en-US" sz="1800" kern="1200" dirty="0">
                <a:solidFill>
                  <a:srgbClr val="58585A"/>
                </a:solidFill>
                <a:latin typeface="Calibri" pitchFamily="34" charset="0"/>
                <a:cs typeface="Calibri" pitchFamily="34" charset="0"/>
              </a:rPr>
              <a:t>demand.</a:t>
            </a:r>
          </a:p>
        </p:txBody>
      </p:sp>
      <p:sp>
        <p:nvSpPr>
          <p:cNvPr id="157" name="Text Box 38"/>
          <p:cNvSpPr txBox="1">
            <a:spLocks noChangeArrowheads="1"/>
          </p:cNvSpPr>
          <p:nvPr/>
        </p:nvSpPr>
        <p:spPr bwMode="gray">
          <a:xfrm>
            <a:off x="16927914" y="2275064"/>
            <a:ext cx="2177005" cy="5539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600" b="1" i="0" u="none" strike="noStrike" kern="1200" cap="none" spc="0" normalizeH="0" baseline="0" noProof="0" dirty="0">
                <a:ln>
                  <a:noFill/>
                </a:ln>
                <a:solidFill>
                  <a:srgbClr val="006699"/>
                </a:solidFill>
                <a:effectLst/>
                <a:uLnTx/>
                <a:uFillTx/>
                <a:latin typeface="Calibri" pitchFamily="34" charset="0"/>
                <a:cs typeface="Calibri" pitchFamily="34" charset="0"/>
              </a:rPr>
              <a:t>Summary</a:t>
            </a:r>
          </a:p>
        </p:txBody>
      </p:sp>
      <p:sp>
        <p:nvSpPr>
          <p:cNvPr id="158" name="Rectangle 50"/>
          <p:cNvSpPr>
            <a:spLocks noChangeArrowheads="1"/>
          </p:cNvSpPr>
          <p:nvPr/>
        </p:nvSpPr>
        <p:spPr bwMode="gray">
          <a:xfrm>
            <a:off x="16826185" y="2755553"/>
            <a:ext cx="4557469" cy="4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marL="0" marR="0" lvl="0" indent="0" defTabSz="914400" eaLnBrk="1" fontAlgn="base" latinLnBrk="0" hangingPunct="1">
              <a:lnSpc>
                <a:spcPct val="100000"/>
              </a:lnSpc>
              <a:spcBef>
                <a:spcPct val="15000"/>
              </a:spcBef>
              <a:spcAft>
                <a:spcPct val="15000"/>
              </a:spcAft>
              <a:buClr>
                <a:srgbClr val="006699"/>
              </a:buClr>
              <a:buSzTx/>
              <a:buFont typeface="Wingdings" pitchFamily="2" charset="2"/>
              <a:buNone/>
              <a:tabLst/>
              <a:defRPr/>
            </a:pPr>
            <a:r>
              <a:rPr kumimoji="0" lang="en-US" sz="32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Initiative Description: </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need </a:t>
            </a:r>
            <a:r>
              <a:rPr lang="en-US" sz="1600" kern="1200" dirty="0" smtClean="0">
                <a:solidFill>
                  <a:srgbClr val="58585A"/>
                </a:solidFill>
                <a:latin typeface="Calibri" pitchFamily="34" charset="0"/>
                <a:cs typeface="Calibri" pitchFamily="34" charset="0"/>
              </a:rPr>
              <a:t>a tool for monitoring performance of Huawei nodes in </a:t>
            </a:r>
            <a:r>
              <a:rPr lang="en-US" sz="1600" kern="1200" dirty="0" err="1" smtClean="0">
                <a:solidFill>
                  <a:srgbClr val="58585A"/>
                </a:solidFill>
                <a:latin typeface="Calibri" pitchFamily="34" charset="0"/>
                <a:cs typeface="Calibri" pitchFamily="34" charset="0"/>
              </a:rPr>
              <a:t>Telcel</a:t>
            </a:r>
            <a:r>
              <a:rPr lang="en-US" sz="1600" kern="1200" dirty="0" smtClean="0">
                <a:solidFill>
                  <a:srgbClr val="58585A"/>
                </a:solidFill>
                <a:latin typeface="Calibri" pitchFamily="34" charset="0"/>
                <a:cs typeface="Calibri" pitchFamily="34" charset="0"/>
              </a:rPr>
              <a:t> Network.</a:t>
            </a:r>
            <a:endParaRPr lang="en-US" sz="1600" kern="1200" dirty="0">
              <a:solidFill>
                <a:srgbClr val="58585A"/>
              </a:solidFill>
              <a:latin typeface="Calibri" pitchFamily="34" charset="0"/>
              <a:cs typeface="Calibri" pitchFamily="34" charset="0"/>
            </a:endParaRP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 </a:t>
            </a:r>
            <a:r>
              <a:rPr lang="en-US" sz="1600" kern="1200" dirty="0" smtClean="0">
                <a:solidFill>
                  <a:srgbClr val="58585A"/>
                </a:solidFill>
                <a:latin typeface="Calibri" pitchFamily="34" charset="0"/>
                <a:cs typeface="Calibri" pitchFamily="34" charset="0"/>
              </a:rPr>
              <a:t>database </a:t>
            </a:r>
            <a:r>
              <a:rPr lang="en-US" sz="1600" kern="1200" dirty="0">
                <a:solidFill>
                  <a:srgbClr val="58585A"/>
                </a:solidFill>
                <a:latin typeface="Calibri" pitchFamily="34" charset="0"/>
                <a:cs typeface="Calibri" pitchFamily="34" charset="0"/>
              </a:rPr>
              <a:t>unified for all </a:t>
            </a:r>
            <a:r>
              <a:rPr lang="en-US" sz="1600" kern="1200" dirty="0" smtClean="0">
                <a:solidFill>
                  <a:srgbClr val="58585A"/>
                </a:solidFill>
                <a:latin typeface="Calibri" pitchFamily="34" charset="0"/>
                <a:cs typeface="Calibri" pitchFamily="34" charset="0"/>
              </a:rPr>
              <a:t>vendors, </a:t>
            </a:r>
            <a:r>
              <a:rPr lang="en-US" sz="1600" kern="1200" dirty="0">
                <a:solidFill>
                  <a:srgbClr val="58585A"/>
                </a:solidFill>
                <a:latin typeface="Calibri" pitchFamily="34" charset="0"/>
                <a:cs typeface="Calibri" pitchFamily="34" charset="0"/>
              </a:rPr>
              <a:t>what needs to be easy to access and centralized</a:t>
            </a:r>
            <a:r>
              <a:rPr lang="en-US" sz="1600" kern="1200" dirty="0" smtClean="0">
                <a:solidFill>
                  <a:srgbClr val="58585A"/>
                </a:solidFill>
                <a:latin typeface="Calibri" pitchFamily="34" charset="0"/>
                <a:cs typeface="Calibri" pitchFamily="34" charset="0"/>
              </a:rPr>
              <a:t>.</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t>
            </a:r>
            <a:r>
              <a:rPr lang="en-US" sz="1600" kern="1200" dirty="0" smtClean="0">
                <a:solidFill>
                  <a:srgbClr val="58585A"/>
                </a:solidFill>
                <a:latin typeface="Calibri" pitchFamily="34" charset="0"/>
                <a:cs typeface="Calibri" pitchFamily="34" charset="0"/>
              </a:rPr>
              <a:t>OPM modules and reports working for Huawei files.</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smtClean="0">
                <a:solidFill>
                  <a:srgbClr val="58585A"/>
                </a:solidFill>
                <a:latin typeface="Calibri" pitchFamily="34" charset="0"/>
                <a:cs typeface="Calibri" pitchFamily="34" charset="0"/>
              </a:rPr>
              <a:t>The metrics has to be showed in less than 10 minutes in GUI with all vendors.</a:t>
            </a:r>
          </a:p>
          <a:p>
            <a:pPr algn="just" defTabSz="914400" fontAlgn="base" hangingPunct="1">
              <a:spcBef>
                <a:spcPct val="15000"/>
              </a:spcBef>
              <a:spcAft>
                <a:spcPct val="15000"/>
              </a:spcAft>
              <a:buClr>
                <a:srgbClr val="006699"/>
              </a:buClr>
              <a:defRPr/>
            </a:pP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59" name="Rectangle 60"/>
          <p:cNvSpPr>
            <a:spLocks noChangeArrowheads="1"/>
          </p:cNvSpPr>
          <p:nvPr/>
        </p:nvSpPr>
        <p:spPr bwMode="gray">
          <a:xfrm>
            <a:off x="2753644" y="5215956"/>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0" name="Text Box 77"/>
          <p:cNvSpPr txBox="1">
            <a:spLocks noChangeArrowheads="1"/>
          </p:cNvSpPr>
          <p:nvPr/>
        </p:nvSpPr>
        <p:spPr bwMode="auto">
          <a:xfrm>
            <a:off x="2590877" y="4641216"/>
            <a:ext cx="2485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Actual/Estimated</a:t>
            </a:r>
          </a:p>
        </p:txBody>
      </p:sp>
      <p:sp>
        <p:nvSpPr>
          <p:cNvPr id="161" name="Text Box 49"/>
          <p:cNvSpPr txBox="1">
            <a:spLocks noChangeArrowheads="1"/>
          </p:cNvSpPr>
          <p:nvPr/>
        </p:nvSpPr>
        <p:spPr bwMode="gray">
          <a:xfrm>
            <a:off x="2909629" y="2291207"/>
            <a:ext cx="3004403" cy="492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rgbClr val="006699"/>
                </a:solidFill>
                <a:effectLst/>
                <a:uLnTx/>
                <a:uFillTx/>
                <a:latin typeface="Calibri" pitchFamily="34" charset="0"/>
                <a:cs typeface="Calibri" pitchFamily="34" charset="0"/>
              </a:rPr>
              <a:t>Key Milestones </a:t>
            </a:r>
          </a:p>
        </p:txBody>
      </p:sp>
      <p:sp>
        <p:nvSpPr>
          <p:cNvPr id="162" name="Rectangle 60"/>
          <p:cNvSpPr>
            <a:spLocks noChangeArrowheads="1"/>
          </p:cNvSpPr>
          <p:nvPr/>
        </p:nvSpPr>
        <p:spPr bwMode="gray">
          <a:xfrm>
            <a:off x="2753644" y="3885659"/>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3" name="Oval 70"/>
          <p:cNvSpPr>
            <a:spLocks noChangeArrowheads="1"/>
          </p:cNvSpPr>
          <p:nvPr/>
        </p:nvSpPr>
        <p:spPr bwMode="gray">
          <a:xfrm>
            <a:off x="649584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64" name="Text Box 71"/>
          <p:cNvSpPr txBox="1">
            <a:spLocks noChangeArrowheads="1"/>
          </p:cNvSpPr>
          <p:nvPr/>
        </p:nvSpPr>
        <p:spPr bwMode="gray">
          <a:xfrm>
            <a:off x="10348736"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err="1" smtClean="0">
                <a:ln>
                  <a:noFill/>
                </a:ln>
                <a:solidFill>
                  <a:srgbClr val="58585A"/>
                </a:solidFill>
                <a:effectLst/>
                <a:uLnTx/>
                <a:uFillTx/>
                <a:latin typeface="Calibri" pitchFamily="34" charset="0"/>
                <a:cs typeface="Calibri" pitchFamily="34" charset="0"/>
              </a:rPr>
              <a:t>jun</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19</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5" name="Text Box 77"/>
          <p:cNvSpPr txBox="1">
            <a:spLocks noChangeArrowheads="1"/>
          </p:cNvSpPr>
          <p:nvPr/>
        </p:nvSpPr>
        <p:spPr bwMode="auto">
          <a:xfrm>
            <a:off x="2594269" y="3349666"/>
            <a:ext cx="1943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Planned</a:t>
            </a:r>
          </a:p>
        </p:txBody>
      </p:sp>
      <p:sp>
        <p:nvSpPr>
          <p:cNvPr id="166" name="Oval 70"/>
          <p:cNvSpPr>
            <a:spLocks noChangeArrowheads="1"/>
          </p:cNvSpPr>
          <p:nvPr/>
        </p:nvSpPr>
        <p:spPr bwMode="gray">
          <a:xfrm>
            <a:off x="436533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2</a:t>
            </a:r>
          </a:p>
        </p:txBody>
      </p:sp>
      <p:sp>
        <p:nvSpPr>
          <p:cNvPr id="167" name="Text Box 71"/>
          <p:cNvSpPr txBox="1">
            <a:spLocks noChangeArrowheads="1"/>
          </p:cNvSpPr>
          <p:nvPr/>
        </p:nvSpPr>
        <p:spPr bwMode="gray">
          <a:xfrm>
            <a:off x="63398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08</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9" name="Text Box 71"/>
          <p:cNvSpPr txBox="1">
            <a:spLocks noChangeArrowheads="1"/>
          </p:cNvSpPr>
          <p:nvPr/>
        </p:nvSpPr>
        <p:spPr bwMode="gray">
          <a:xfrm>
            <a:off x="2866327"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70" name="Oval 70"/>
          <p:cNvSpPr>
            <a:spLocks noChangeArrowheads="1"/>
          </p:cNvSpPr>
          <p:nvPr/>
        </p:nvSpPr>
        <p:spPr bwMode="gray">
          <a:xfrm>
            <a:off x="3056222" y="3711298"/>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172" name="Rectangle 5"/>
          <p:cNvSpPr>
            <a:spLocks noChangeArrowheads="1"/>
          </p:cNvSpPr>
          <p:nvPr/>
        </p:nvSpPr>
        <p:spPr bwMode="gray">
          <a:xfrm>
            <a:off x="4269410"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3" name="Rectangle 5"/>
          <p:cNvSpPr>
            <a:spLocks noChangeArrowheads="1"/>
          </p:cNvSpPr>
          <p:nvPr/>
        </p:nvSpPr>
        <p:spPr bwMode="gray">
          <a:xfrm>
            <a:off x="578178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W3</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4" name="Rectangle 5"/>
          <p:cNvSpPr>
            <a:spLocks noChangeArrowheads="1"/>
          </p:cNvSpPr>
          <p:nvPr/>
        </p:nvSpPr>
        <p:spPr bwMode="gray">
          <a:xfrm>
            <a:off x="7294159"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W4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5" name="Rectangle 5"/>
          <p:cNvSpPr>
            <a:spLocks noChangeArrowheads="1"/>
          </p:cNvSpPr>
          <p:nvPr/>
        </p:nvSpPr>
        <p:spPr bwMode="gray">
          <a:xfrm>
            <a:off x="8806533"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W8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6" name="Rectangle 5"/>
          <p:cNvSpPr>
            <a:spLocks noChangeArrowheads="1"/>
          </p:cNvSpPr>
          <p:nvPr/>
        </p:nvSpPr>
        <p:spPr bwMode="gray">
          <a:xfrm>
            <a:off x="10315515"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9" name="Rectangle 5"/>
          <p:cNvSpPr>
            <a:spLocks noChangeArrowheads="1"/>
          </p:cNvSpPr>
          <p:nvPr/>
        </p:nvSpPr>
        <p:spPr bwMode="gray">
          <a:xfrm>
            <a:off x="11827889" y="2884708"/>
            <a:ext cx="1481857"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W13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0" name="Rectangle 5"/>
          <p:cNvSpPr>
            <a:spLocks noChangeArrowheads="1"/>
          </p:cNvSpPr>
          <p:nvPr/>
        </p:nvSpPr>
        <p:spPr bwMode="gray">
          <a:xfrm>
            <a:off x="1333687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W14</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1" name="Rectangle 5"/>
          <p:cNvSpPr>
            <a:spLocks noChangeArrowheads="1"/>
          </p:cNvSpPr>
          <p:nvPr/>
        </p:nvSpPr>
        <p:spPr bwMode="gray">
          <a:xfrm>
            <a:off x="14849248"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W15</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2" name="Rectangle 23"/>
          <p:cNvSpPr>
            <a:spLocks noChangeArrowheads="1"/>
          </p:cNvSpPr>
          <p:nvPr/>
        </p:nvSpPr>
        <p:spPr bwMode="gray">
          <a:xfrm>
            <a:off x="10552879" y="6017331"/>
            <a:ext cx="5933619" cy="12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4.</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Codification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5.</a:t>
            </a:r>
            <a:r>
              <a:rPr lang="en-US" sz="2000" kern="1200" dirty="0" smtClean="0">
                <a:solidFill>
                  <a:srgbClr val="58585A"/>
                </a:solidFill>
                <a:latin typeface="Calibri" pitchFamily="34" charset="0"/>
                <a:cs typeface="Calibri" pitchFamily="34" charset="0"/>
              </a:rPr>
              <a:t> Development Tests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6.</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Alpha version test at local server and ECOSS#4</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7.</a:t>
            </a:r>
            <a:r>
              <a:rPr lang="en-US" sz="2000" kern="1200" dirty="0" smtClean="0">
                <a:solidFill>
                  <a:srgbClr val="58585A"/>
                </a:solidFill>
                <a:latin typeface="Calibri" pitchFamily="34" charset="0"/>
                <a:cs typeface="Calibri" pitchFamily="34" charset="0"/>
              </a:rPr>
              <a:t> Debug and Improvements + REV A launch</a:t>
            </a:r>
            <a:endPar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83" name="Rectangle 5"/>
          <p:cNvSpPr>
            <a:spLocks noChangeArrowheads="1"/>
          </p:cNvSpPr>
          <p:nvPr/>
        </p:nvSpPr>
        <p:spPr bwMode="gray">
          <a:xfrm>
            <a:off x="2757036"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W1</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5" name="Oval 61"/>
          <p:cNvSpPr>
            <a:spLocks noChangeArrowheads="1"/>
          </p:cNvSpPr>
          <p:nvPr/>
        </p:nvSpPr>
        <p:spPr bwMode="gray">
          <a:xfrm>
            <a:off x="10494549"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6" name="Oval 61"/>
          <p:cNvSpPr>
            <a:spLocks noChangeArrowheads="1"/>
          </p:cNvSpPr>
          <p:nvPr/>
        </p:nvSpPr>
        <p:spPr bwMode="gray">
          <a:xfrm>
            <a:off x="12151301"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7" name="Text Box 71"/>
          <p:cNvSpPr txBox="1">
            <a:spLocks noChangeArrowheads="1"/>
          </p:cNvSpPr>
          <p:nvPr/>
        </p:nvSpPr>
        <p:spPr bwMode="gray">
          <a:xfrm>
            <a:off x="13595685"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Jul</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a:solidFill>
                  <a:srgbClr val="58585A"/>
                </a:solidFill>
                <a:latin typeface="Calibri" pitchFamily="34" charset="0"/>
                <a:cs typeface="Calibri" pitchFamily="34" charset="0"/>
              </a:rPr>
              <a:t>1</a:t>
            </a:r>
            <a:r>
              <a:rPr lang="en-US" sz="2000" kern="1200" dirty="0" smtClean="0">
                <a:solidFill>
                  <a:srgbClr val="58585A"/>
                </a:solidFill>
                <a:latin typeface="Calibri" pitchFamily="34" charset="0"/>
                <a:cs typeface="Calibri" pitchFamily="34" charset="0"/>
              </a:rPr>
              <a:t>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88" name="Rectangle 26"/>
          <p:cNvSpPr>
            <a:spLocks noChangeArrowheads="1"/>
          </p:cNvSpPr>
          <p:nvPr/>
        </p:nvSpPr>
        <p:spPr bwMode="gray">
          <a:xfrm>
            <a:off x="2521762" y="9997920"/>
            <a:ext cx="6826031" cy="2925361"/>
          </a:xfrm>
          <a:prstGeom prst="rect">
            <a:avLst/>
          </a:prstGeom>
          <a:solidFill>
            <a:srgbClr val="FFFFFF"/>
          </a:solidFill>
          <a:ln w="9525">
            <a:solidFill>
              <a:srgbClr val="0070C0"/>
            </a:solidFill>
            <a:miter lim="800000"/>
            <a:headEnd/>
            <a:tailEnd/>
          </a:ln>
        </p:spPr>
        <p:txBody>
          <a:bodyPr rIns="0"/>
          <a:lstStyle/>
          <a:p>
            <a:pPr marL="171450" marR="0" lvl="0" indent="-171450"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3.	Is anything slowing the team down?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(Risks and Issues)</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pt-BR" sz="1800" kern="1200" dirty="0" err="1" smtClean="0">
                <a:solidFill>
                  <a:srgbClr val="58585A"/>
                </a:solidFill>
                <a:latin typeface="Calibri" pitchFamily="34" charset="0"/>
                <a:cs typeface="Calibri" pitchFamily="34" charset="0"/>
              </a:rPr>
              <a:t>Client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provide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counters</a:t>
            </a:r>
            <a:r>
              <a:rPr lang="pt-BR" sz="1800" kern="1200" dirty="0" smtClean="0">
                <a:solidFill>
                  <a:srgbClr val="58585A"/>
                </a:solidFill>
                <a:latin typeface="Calibri" pitchFamily="34" charset="0"/>
                <a:cs typeface="Calibri" pitchFamily="34" charset="0"/>
              </a:rPr>
              <a:t> catalogue.</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lang="pt-BR" sz="1800" kern="1200" dirty="0" smtClean="0">
              <a:solidFill>
                <a:srgbClr val="58585A"/>
              </a:solidFill>
              <a:latin typeface="Calibri" pitchFamily="34" charset="0"/>
              <a:cs typeface="Calibri" pitchFamily="34" charset="0"/>
            </a:endParaRPr>
          </a:p>
        </p:txBody>
      </p:sp>
      <p:sp>
        <p:nvSpPr>
          <p:cNvPr id="189" name="Rectangle 27"/>
          <p:cNvSpPr>
            <a:spLocks noChangeArrowheads="1"/>
          </p:cNvSpPr>
          <p:nvPr/>
        </p:nvSpPr>
        <p:spPr bwMode="gray">
          <a:xfrm>
            <a:off x="9389964" y="9997917"/>
            <a:ext cx="7110687" cy="2925364"/>
          </a:xfrm>
          <a:prstGeom prst="rect">
            <a:avLst/>
          </a:prstGeom>
          <a:solidFill>
            <a:srgbClr val="FFFFFF"/>
          </a:solidFill>
          <a:ln w="9525">
            <a:solidFill>
              <a:srgbClr val="0070C0"/>
            </a:solidFill>
            <a:miter lim="800000"/>
            <a:headEnd/>
            <a:tailEnd/>
          </a:ln>
        </p:spPr>
        <p:txBody>
          <a:bodyPr/>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4.	What support is required from the Leaders?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(attention and action) </a:t>
            </a:r>
            <a:endParaRPr kumimoji="0" lang="en-US" sz="2400" b="0" i="0" u="none" strike="noStrike" kern="1200" cap="none" spc="0" normalizeH="0" baseline="0" noProof="0" dirty="0" smtClean="0">
              <a:ln>
                <a:noFill/>
              </a:ln>
              <a:solidFill>
                <a:srgbClr val="FF0000"/>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dirty="0" smtClean="0">
                <a:solidFill>
                  <a:srgbClr val="58585A"/>
                </a:solidFill>
                <a:latin typeface="Calibri" pitchFamily="34" charset="0"/>
                <a:cs typeface="Calibri" pitchFamily="34" charset="0"/>
              </a:rPr>
              <a:t>Get counters catalogue in time.</a:t>
            </a:r>
            <a:endParaRPr kumimoji="0" lang="en-US" sz="1800" b="0" i="0" u="none" strike="noStrike" kern="1200" cap="none" spc="0" normalizeH="0" noProof="0" dirty="0" smtClean="0">
              <a:ln>
                <a:noFill/>
              </a:ln>
              <a:solidFill>
                <a:srgbClr val="58585A"/>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noProof="0" dirty="0" smtClean="0">
                <a:solidFill>
                  <a:srgbClr val="58585A"/>
                </a:solidFill>
                <a:latin typeface="Calibri" pitchFamily="34" charset="0"/>
                <a:cs typeface="Calibri" pitchFamily="34" charset="0"/>
              </a:rPr>
              <a:t>Get support from external consultor to explain Huawei structure files.</a:t>
            </a: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kumimoji="0" lang="en-US" sz="1800" b="0" i="0" u="none" strike="noStrike" kern="1200" cap="none" spc="0" normalizeH="0" baseline="0" dirty="0" smtClean="0">
                <a:ln>
                  <a:noFill/>
                </a:ln>
                <a:solidFill>
                  <a:srgbClr val="58585A"/>
                </a:solidFill>
                <a:effectLst/>
                <a:uLnTx/>
                <a:uFillTx/>
                <a:latin typeface="Calibri" pitchFamily="34" charset="0"/>
                <a:cs typeface="Calibri" pitchFamily="34" charset="0"/>
              </a:rPr>
              <a:t>Validation</a:t>
            </a:r>
            <a:r>
              <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rPr>
              <a:t> of parsing process results by external consultor expert in Huawei technology.</a:t>
            </a:r>
          </a:p>
          <a:p>
            <a:pPr marL="166688"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get</a:t>
            </a:r>
            <a:r>
              <a:rPr lang="pt-BR" sz="1800" kern="1200" dirty="0" smtClean="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a:t>
            </a:r>
            <a:r>
              <a:rPr lang="pt-BR" sz="1800" kern="1200" dirty="0" err="1" smtClean="0">
                <a:solidFill>
                  <a:srgbClr val="58585A"/>
                </a:solidFill>
                <a:latin typeface="Calibri" pitchFamily="34" charset="0"/>
                <a:cs typeface="Calibri" pitchFamily="34" charset="0"/>
              </a:rPr>
              <a:t>aw</a:t>
            </a:r>
            <a:r>
              <a:rPr lang="pt-BR" sz="1800" kern="1200" dirty="0" smtClean="0">
                <a:solidFill>
                  <a:srgbClr val="58585A"/>
                </a:solidFill>
                <a:latin typeface="Calibri" pitchFamily="34" charset="0"/>
                <a:cs typeface="Calibri" pitchFamily="34" charset="0"/>
              </a:rPr>
              <a:t> </a:t>
            </a:r>
            <a:r>
              <a:rPr lang="pt-BR" sz="1800" kern="1200" dirty="0">
                <a:solidFill>
                  <a:srgbClr val="58585A"/>
                </a:solidFill>
                <a:latin typeface="Calibri" pitchFamily="34" charset="0"/>
                <a:cs typeface="Calibri" pitchFamily="34" charset="0"/>
              </a:rPr>
              <a:t>data files for </a:t>
            </a:r>
            <a:r>
              <a:rPr lang="pt-BR" sz="1800" kern="1200" dirty="0" err="1">
                <a:solidFill>
                  <a:srgbClr val="58585A"/>
                </a:solidFill>
                <a:latin typeface="Calibri" pitchFamily="34" charset="0"/>
                <a:cs typeface="Calibri" pitchFamily="34" charset="0"/>
              </a:rPr>
              <a:t>entire</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Huawei</a:t>
            </a:r>
            <a:r>
              <a:rPr lang="pt-BR" sz="1800" kern="1200" dirty="0">
                <a:solidFill>
                  <a:srgbClr val="58585A"/>
                </a:solidFill>
                <a:latin typeface="Calibri" pitchFamily="34" charset="0"/>
                <a:cs typeface="Calibri" pitchFamily="34" charset="0"/>
              </a:rPr>
              <a:t> network for </a:t>
            </a:r>
            <a:r>
              <a:rPr lang="pt-BR" sz="1800" kern="1200" dirty="0" err="1">
                <a:solidFill>
                  <a:srgbClr val="58585A"/>
                </a:solidFill>
                <a:latin typeface="Calibri" pitchFamily="34" charset="0"/>
                <a:cs typeface="Calibri" pitchFamily="34" charset="0"/>
              </a:rPr>
              <a:t>at</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least</a:t>
            </a:r>
            <a:r>
              <a:rPr lang="pt-BR" sz="1800" kern="1200" dirty="0">
                <a:solidFill>
                  <a:srgbClr val="58585A"/>
                </a:solidFill>
                <a:latin typeface="Calibri" pitchFamily="34" charset="0"/>
                <a:cs typeface="Calibri" pitchFamily="34" charset="0"/>
              </a:rPr>
              <a:t> 1 hour.</a:t>
            </a: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0" name="Rectangle 42"/>
          <p:cNvSpPr>
            <a:spLocks noChangeArrowheads="1"/>
          </p:cNvSpPr>
          <p:nvPr/>
        </p:nvSpPr>
        <p:spPr bwMode="gray">
          <a:xfrm>
            <a:off x="5106980" y="13036293"/>
            <a:ext cx="1115631" cy="309972"/>
          </a:xfrm>
          <a:prstGeom prst="rect">
            <a:avLst/>
          </a:prstGeom>
          <a:solidFill>
            <a:srgbClr val="FFFFFF">
              <a:lumMod val="65000"/>
            </a:srgbClr>
          </a:solidFill>
          <a:ln w="9525">
            <a:solidFill>
              <a:srgbClr val="FFFFFF"/>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Gray</a:t>
            </a:r>
          </a:p>
        </p:txBody>
      </p:sp>
      <p:sp>
        <p:nvSpPr>
          <p:cNvPr id="191" name="Oval 70"/>
          <p:cNvSpPr>
            <a:spLocks noChangeArrowheads="1"/>
          </p:cNvSpPr>
          <p:nvPr/>
        </p:nvSpPr>
        <p:spPr bwMode="gray">
          <a:xfrm>
            <a:off x="13783948" y="371775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92" name="Text Box 71"/>
          <p:cNvSpPr txBox="1">
            <a:spLocks noChangeArrowheads="1"/>
          </p:cNvSpPr>
          <p:nvPr/>
        </p:nvSpPr>
        <p:spPr bwMode="gray">
          <a:xfrm>
            <a:off x="119783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err="1" smtClean="0">
                <a:solidFill>
                  <a:srgbClr val="58585A"/>
                </a:solidFill>
                <a:latin typeface="Calibri" pitchFamily="34" charset="0"/>
                <a:cs typeface="Calibri" pitchFamily="34" charset="0"/>
              </a:rPr>
              <a:t>Jul</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4" name="Text Box 71"/>
          <p:cNvSpPr txBox="1">
            <a:spLocks noChangeArrowheads="1"/>
          </p:cNvSpPr>
          <p:nvPr/>
        </p:nvSpPr>
        <p:spPr bwMode="gray">
          <a:xfrm>
            <a:off x="4182222"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smtClean="0">
                <a:solidFill>
                  <a:srgbClr val="58585A"/>
                </a:solidFill>
                <a:latin typeface="Calibri" pitchFamily="34" charset="0"/>
                <a:cs typeface="Calibri" pitchFamily="34" charset="0"/>
              </a:rPr>
              <a:t>02</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5" name="Text Box 71"/>
          <p:cNvSpPr txBox="1">
            <a:spLocks noChangeArrowheads="1"/>
          </p:cNvSpPr>
          <p:nvPr/>
        </p:nvSpPr>
        <p:spPr bwMode="gray">
          <a:xfrm>
            <a:off x="5681373" y="433193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07</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6" name="Oval 70"/>
          <p:cNvSpPr>
            <a:spLocks noChangeArrowheads="1"/>
          </p:cNvSpPr>
          <p:nvPr/>
        </p:nvSpPr>
        <p:spPr bwMode="gray">
          <a:xfrm>
            <a:off x="5912600" y="371583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1" name="Rectangle 47"/>
          <p:cNvSpPr>
            <a:spLocks noChangeArrowheads="1"/>
          </p:cNvSpPr>
          <p:nvPr/>
        </p:nvSpPr>
        <p:spPr bwMode="gray">
          <a:xfrm>
            <a:off x="18807141" y="13037752"/>
            <a:ext cx="2248121" cy="309972"/>
          </a:xfrm>
          <a:prstGeom prst="rect">
            <a:avLst/>
          </a:prstGeom>
          <a:solidFill>
            <a:srgbClr val="FFFFFF"/>
          </a:solidFill>
          <a:ln>
            <a:noFill/>
          </a:ln>
          <a:extLst/>
        </p:spPr>
        <p:txBody>
          <a:bodyPr wrap="none" anchor="ctr"/>
          <a:lstStyle/>
          <a:p>
            <a:r>
              <a:rPr lang="en-US" sz="1400" dirty="0">
                <a:latin typeface="Calibri" pitchFamily="34" charset="0"/>
                <a:cs typeface="Calibri" pitchFamily="34" charset="0"/>
              </a:rPr>
              <a:t>Will miss planned delivery</a:t>
            </a:r>
          </a:p>
        </p:txBody>
      </p:sp>
      <p:sp>
        <p:nvSpPr>
          <p:cNvPr id="212" name="Oval 70"/>
          <p:cNvSpPr>
            <a:spLocks noChangeArrowheads="1"/>
          </p:cNvSpPr>
          <p:nvPr/>
        </p:nvSpPr>
        <p:spPr bwMode="gray">
          <a:xfrm>
            <a:off x="12809149"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4" name="Oval 70"/>
          <p:cNvSpPr>
            <a:spLocks noChangeArrowheads="1"/>
          </p:cNvSpPr>
          <p:nvPr/>
        </p:nvSpPr>
        <p:spPr bwMode="gray">
          <a:xfrm>
            <a:off x="4373357" y="5042791"/>
            <a:ext cx="586637" cy="558596"/>
          </a:xfrm>
          <a:prstGeom prst="ellipse">
            <a:avLst/>
          </a:prstGeom>
          <a:solidFill>
            <a:schemeClr val="bg1">
              <a:lumMod val="25000"/>
              <a:lumOff val="75000"/>
            </a:schemeClr>
          </a:solidFill>
          <a:ln w="9525">
            <a:solidFill>
              <a:srgbClr val="58585A"/>
            </a:solidFill>
            <a:round/>
            <a:headEnd/>
            <a:tailEnd/>
          </a:ln>
        </p:spPr>
        <p:txBody>
          <a:bodyPr wrap="none" anchor="ctr"/>
          <a:lstStyle/>
          <a:p>
            <a:pPr algn="ctr" defTabSz="914400" hangingPunct="1">
              <a:spcBef>
                <a:spcPts val="0"/>
              </a:spcBef>
            </a:pPr>
            <a:r>
              <a:rPr lang="en-US" sz="2400" kern="1200" dirty="0">
                <a:solidFill>
                  <a:srgbClr val="58585A"/>
                </a:solidFill>
                <a:latin typeface="Calibri" panose="020F0502020204030204" pitchFamily="34" charset="0"/>
                <a:cs typeface="Calibri" panose="020F0502020204030204" pitchFamily="34" charset="0"/>
              </a:rPr>
              <a:t>2</a:t>
            </a:r>
          </a:p>
        </p:txBody>
      </p:sp>
      <p:sp>
        <p:nvSpPr>
          <p:cNvPr id="216" name="Text Box 71"/>
          <p:cNvSpPr txBox="1">
            <a:spLocks noChangeArrowheads="1"/>
          </p:cNvSpPr>
          <p:nvPr/>
        </p:nvSpPr>
        <p:spPr bwMode="gray">
          <a:xfrm>
            <a:off x="2874349" y="566535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217" name="Oval 70"/>
          <p:cNvSpPr>
            <a:spLocks noChangeArrowheads="1"/>
          </p:cNvSpPr>
          <p:nvPr/>
        </p:nvSpPr>
        <p:spPr bwMode="gray">
          <a:xfrm>
            <a:off x="3064244" y="5042791"/>
            <a:ext cx="586640" cy="558596"/>
          </a:xfrm>
          <a:prstGeom prst="ellipse">
            <a:avLst/>
          </a:prstGeom>
          <a:solidFill>
            <a:schemeClr val="bg1">
              <a:lumMod val="25000"/>
              <a:lumOff val="75000"/>
            </a:scheme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218" name="Oval 61"/>
          <p:cNvSpPr>
            <a:spLocks noChangeArrowheads="1"/>
          </p:cNvSpPr>
          <p:nvPr/>
        </p:nvSpPr>
        <p:spPr bwMode="gray">
          <a:xfrm>
            <a:off x="13559684"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9" name="Oval 61"/>
          <p:cNvSpPr>
            <a:spLocks noChangeArrowheads="1"/>
          </p:cNvSpPr>
          <p:nvPr/>
        </p:nvSpPr>
        <p:spPr bwMode="gray">
          <a:xfrm>
            <a:off x="14302027"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1" name="Oval 70"/>
          <p:cNvSpPr>
            <a:spLocks noChangeArrowheads="1"/>
          </p:cNvSpPr>
          <p:nvPr/>
        </p:nvSpPr>
        <p:spPr bwMode="gray">
          <a:xfrm>
            <a:off x="15061214" y="5049249"/>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5" name="Oval 70"/>
          <p:cNvSpPr>
            <a:spLocks noChangeArrowheads="1"/>
          </p:cNvSpPr>
          <p:nvPr/>
        </p:nvSpPr>
        <p:spPr bwMode="gray">
          <a:xfrm>
            <a:off x="9652092" y="5060232"/>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811730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a:solidFill>
                  <a:srgbClr val="00B0F0"/>
                </a:solidFill>
                <a:latin typeface="Arial Black"/>
                <a:ea typeface="Arial Black"/>
                <a:cs typeface="Arial Black"/>
                <a:sym typeface="Avenir Next Medium"/>
              </a:rPr>
              <a:t>What</a:t>
            </a:r>
            <a:r>
              <a:rPr lang="pt-BR" sz="6873" dirty="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is</a:t>
            </a:r>
            <a:r>
              <a:rPr lang="pt-BR" sz="6873" dirty="0" smtClean="0">
                <a:solidFill>
                  <a:srgbClr val="00B0F0"/>
                </a:solidFill>
                <a:latin typeface="Arial Black"/>
                <a:ea typeface="Arial Black"/>
                <a:cs typeface="Arial Black"/>
                <a:sym typeface="Avenir Next Medium"/>
              </a:rPr>
              <a:t> OPM?</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It is a centralized and unified tool, Web Based, which aims to:</a:t>
            </a:r>
          </a:p>
          <a:p>
            <a:pPr>
              <a:buFontTx/>
              <a:buChar char="-"/>
            </a:pPr>
            <a:r>
              <a:rPr lang="en-US" sz="3600" dirty="0" smtClean="0"/>
              <a:t>Improve </a:t>
            </a:r>
            <a:r>
              <a:rPr lang="en-US" sz="3600" dirty="0"/>
              <a:t>the way </a:t>
            </a:r>
            <a:r>
              <a:rPr lang="en-US" sz="3600" dirty="0" err="1" smtClean="0"/>
              <a:t>Telcel</a:t>
            </a:r>
            <a:r>
              <a:rPr lang="en-US" sz="3600" dirty="0" smtClean="0"/>
              <a:t> monitor the performance of telecommunications network.</a:t>
            </a:r>
          </a:p>
          <a:p>
            <a:pPr>
              <a:buFontTx/>
              <a:buChar char="-"/>
            </a:pPr>
            <a:r>
              <a:rPr lang="en-US" sz="3600" dirty="0" smtClean="0"/>
              <a:t>Prevent issues with nodes by alarms. </a:t>
            </a:r>
          </a:p>
          <a:p>
            <a:pPr>
              <a:buFontTx/>
              <a:buChar char="-"/>
            </a:pPr>
            <a:r>
              <a:rPr lang="en-US" sz="3600" dirty="0" smtClean="0"/>
              <a:t>Have </a:t>
            </a:r>
            <a:r>
              <a:rPr lang="en-US" sz="3600" dirty="0"/>
              <a:t>a </a:t>
            </a:r>
            <a:r>
              <a:rPr lang="en-US" sz="3600" dirty="0" smtClean="0"/>
              <a:t>database </a:t>
            </a:r>
            <a:r>
              <a:rPr lang="en-US" sz="3600" dirty="0"/>
              <a:t>unified for </a:t>
            </a:r>
            <a:r>
              <a:rPr lang="en-US" sz="3600" dirty="0" smtClean="0"/>
              <a:t>generating reports in GUI, </a:t>
            </a:r>
            <a:r>
              <a:rPr lang="en-US" sz="3600" dirty="0"/>
              <a:t>what needs to be </a:t>
            </a:r>
            <a:r>
              <a:rPr lang="en-US" sz="3600" dirty="0" smtClean="0"/>
              <a:t>friendly with the final user.</a:t>
            </a:r>
          </a:p>
          <a:p>
            <a:pPr>
              <a:buFontTx/>
              <a:buChar char="-"/>
            </a:pPr>
            <a:r>
              <a:rPr lang="en-US" sz="3600" dirty="0" smtClean="0"/>
              <a:t>Provides module to monitor KPI values but node/cell combination, region and network.</a:t>
            </a:r>
            <a:endParaRPr lang="en-US" sz="3600" dirty="0"/>
          </a:p>
          <a:p>
            <a:pPr>
              <a:buFontTx/>
              <a:buChar char="-"/>
            </a:pPr>
            <a:r>
              <a:rPr lang="en-US" sz="3600" dirty="0" smtClean="0"/>
              <a:t>Provides the function to create new KPI.</a:t>
            </a:r>
          </a:p>
          <a:p>
            <a:pPr>
              <a:buFontTx/>
              <a:buChar char="-"/>
            </a:pPr>
            <a:r>
              <a:rPr lang="en-US" sz="3600" dirty="0" smtClean="0"/>
              <a:t>Provides modules to automate monitoring and send notifications and </a:t>
            </a:r>
            <a:r>
              <a:rPr lang="en-US" sz="3600" dirty="0" err="1" smtClean="0"/>
              <a:t>softalarms</a:t>
            </a:r>
            <a:r>
              <a:rPr lang="en-US" sz="3600" dirty="0" smtClean="0"/>
              <a:t> to the user.</a:t>
            </a:r>
          </a:p>
          <a:p>
            <a:pPr>
              <a:buFontTx/>
              <a:buChar char="-"/>
            </a:pPr>
            <a:r>
              <a:rPr lang="en-US" sz="3600" dirty="0" smtClean="0"/>
              <a:t>Be friendly, security and assertive</a:t>
            </a:r>
            <a:r>
              <a:rPr lang="en-US" sz="3600" dirty="0"/>
              <a:t>.</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benefits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With OPM implemented </a:t>
            </a:r>
            <a:r>
              <a:rPr lang="en-US" sz="3600" b="1" dirty="0" err="1" smtClean="0"/>
              <a:t>Telcel</a:t>
            </a:r>
            <a:r>
              <a:rPr lang="en-US" sz="3600" b="1" dirty="0" smtClean="0"/>
              <a:t> user is able to:</a:t>
            </a:r>
            <a:endParaRPr lang="en-US" sz="3600" b="1" dirty="0"/>
          </a:p>
          <a:p>
            <a:pPr>
              <a:buFontTx/>
              <a:buChar char="-"/>
            </a:pPr>
            <a:r>
              <a:rPr lang="en-US" sz="3600" dirty="0" smtClean="0"/>
              <a:t>Makes </a:t>
            </a:r>
            <a:r>
              <a:rPr lang="en-US" sz="3600" dirty="0" err="1" smtClean="0"/>
              <a:t>Telcel</a:t>
            </a:r>
            <a:r>
              <a:rPr lang="en-US" sz="3600" dirty="0" smtClean="0"/>
              <a:t> operators troubleshooting faster.</a:t>
            </a:r>
            <a:endParaRPr lang="en-US" sz="3600" dirty="0"/>
          </a:p>
          <a:p>
            <a:pPr>
              <a:buFontTx/>
              <a:buChar char="-"/>
            </a:pPr>
            <a:r>
              <a:rPr lang="en-US" sz="3600" dirty="0" smtClean="0"/>
              <a:t>Contribute to decisions making to keep a good performance in the entire network.</a:t>
            </a:r>
          </a:p>
          <a:p>
            <a:pPr>
              <a:buFontTx/>
              <a:buChar char="-"/>
            </a:pPr>
            <a:r>
              <a:rPr lang="en-US" sz="3600" dirty="0" smtClean="0"/>
              <a:t> Have fast reports about KPI values in network elements.</a:t>
            </a:r>
          </a:p>
          <a:p>
            <a:pPr>
              <a:buFontTx/>
              <a:buChar char="-"/>
            </a:pPr>
            <a:r>
              <a:rPr lang="en-US" sz="3600" dirty="0" smtClean="0"/>
              <a:t>Create custom type of monitoring reports and KPIs formulas.</a:t>
            </a:r>
          </a:p>
          <a:p>
            <a:pPr>
              <a:buFontTx/>
              <a:buChar char="-"/>
            </a:pPr>
            <a:r>
              <a:rPr lang="en-US" sz="3600" dirty="0" smtClean="0"/>
              <a:t>Have a centralized data base, friendly and 100% accessible</a:t>
            </a:r>
          </a:p>
          <a:p>
            <a:pPr>
              <a:buFontTx/>
              <a:buChar char="-"/>
            </a:pPr>
            <a:r>
              <a:rPr lang="en-US" sz="3600" dirty="0" smtClean="0"/>
              <a:t>Less number of issues.</a:t>
            </a:r>
            <a:endParaRPr lang="en-US" sz="3600" dirty="0"/>
          </a:p>
          <a:p>
            <a:pPr>
              <a:buFontTx/>
              <a:buChar char="-"/>
            </a:pPr>
            <a:endParaRPr lang="en-US" sz="3600" dirty="0" smtClean="0"/>
          </a:p>
          <a:p>
            <a:pPr marL="0" indent="0">
              <a:buNone/>
            </a:pP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56779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status </a:t>
            </a:r>
            <a:r>
              <a:rPr lang="pt-BR" sz="6873" dirty="0" err="1" smtClean="0">
                <a:solidFill>
                  <a:srgbClr val="00B0F0"/>
                </a:solidFill>
                <a:latin typeface="Arial Black"/>
                <a:ea typeface="Arial Black"/>
                <a:cs typeface="Arial Black"/>
                <a:sym typeface="Avenir Next Medium"/>
              </a:rPr>
              <a:t>of</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work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a:buFontTx/>
              <a:buChar char="-"/>
            </a:pPr>
            <a:r>
              <a:rPr lang="en-US" sz="3600" dirty="0"/>
              <a:t>Tool was requested by </a:t>
            </a:r>
            <a:r>
              <a:rPr lang="en-US" sz="3600" dirty="0" err="1" smtClean="0"/>
              <a:t>Telcel</a:t>
            </a:r>
            <a:r>
              <a:rPr lang="en-US" sz="3600" dirty="0" smtClean="0"/>
              <a:t> </a:t>
            </a:r>
            <a:r>
              <a:rPr lang="en-US" sz="3600" dirty="0"/>
              <a:t>team</a:t>
            </a:r>
          </a:p>
          <a:p>
            <a:pPr>
              <a:buFontTx/>
              <a:buChar char="-"/>
            </a:pPr>
            <a:r>
              <a:rPr lang="en-US" sz="3600" dirty="0"/>
              <a:t>Project </a:t>
            </a:r>
            <a:r>
              <a:rPr lang="en-US" sz="3600" dirty="0" smtClean="0"/>
              <a:t>will </a:t>
            </a:r>
            <a:r>
              <a:rPr lang="en-US" sz="3600" dirty="0"/>
              <a:t>started officially on </a:t>
            </a:r>
            <a:r>
              <a:rPr lang="en-US" sz="3600" dirty="0" smtClean="0"/>
              <a:t>April 30th</a:t>
            </a:r>
            <a:endParaRPr lang="en-US" sz="3600" dirty="0"/>
          </a:p>
          <a:p>
            <a:pPr>
              <a:buFontTx/>
              <a:buChar char="-"/>
            </a:pPr>
            <a:r>
              <a:rPr lang="en-US" sz="3600" dirty="0"/>
              <a:t>We have </a:t>
            </a:r>
            <a:r>
              <a:rPr lang="en-US" sz="3600" dirty="0" smtClean="0"/>
              <a:t>set </a:t>
            </a:r>
            <a:r>
              <a:rPr lang="en-US" sz="3600" dirty="0"/>
              <a:t>a sequence of recurrent meetings every Monday from 10am till 12pm. This file will be send out after all follow up meeting.</a:t>
            </a:r>
          </a:p>
          <a:p>
            <a:pPr>
              <a:buFontTx/>
              <a:buChar char="-"/>
            </a:pPr>
            <a:r>
              <a:rPr lang="en-US" sz="3600" dirty="0"/>
              <a:t>This phase aims to be finished </a:t>
            </a:r>
            <a:r>
              <a:rPr lang="en-US" sz="3600" dirty="0" smtClean="0"/>
              <a:t>on July 10th</a:t>
            </a:r>
            <a:r>
              <a:rPr lang="en-US" sz="3600" dirty="0"/>
              <a:t>, however we plan to keep doing maintenance, creating other reports, etc. according to </a:t>
            </a:r>
            <a:r>
              <a:rPr lang="en-US" sz="3600" dirty="0" err="1"/>
              <a:t>Intelma´s</a:t>
            </a:r>
            <a:r>
              <a:rPr lang="en-US" sz="3600" dirty="0"/>
              <a:t> demand.</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2342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Scope</a:t>
            </a:r>
            <a:r>
              <a:rPr lang="en-US" sz="3600" dirty="0" smtClean="0"/>
              <a:t/>
            </a:r>
            <a:br>
              <a:rPr lang="en-US" sz="3600" dirty="0" smtClean="0"/>
            </a:br>
            <a:r>
              <a:rPr lang="en-US" sz="3600" dirty="0" smtClean="0"/>
              <a:t/>
            </a:r>
            <a:br>
              <a:rPr lang="en-US" sz="3600" dirty="0" smtClean="0"/>
            </a:br>
            <a:r>
              <a:rPr lang="en-US" sz="3600" dirty="0" smtClean="0"/>
              <a:t>The OPM will be an application that will work in a WEB environment that will allow users to enter the activities of monitoring network, manage and generate reports, the general functions of the application are:</a:t>
            </a:r>
            <a:endParaRPr lang="en-US" sz="3600" dirty="0"/>
          </a:p>
          <a:p>
            <a:pPr>
              <a:buFontTx/>
              <a:buChar char="-"/>
            </a:pPr>
            <a:r>
              <a:rPr lang="en-US" sz="3600" dirty="0" smtClean="0"/>
              <a:t>Dashboard </a:t>
            </a:r>
          </a:p>
          <a:p>
            <a:pPr>
              <a:buFontTx/>
              <a:buChar char="-"/>
            </a:pPr>
            <a:r>
              <a:rPr lang="en-US" sz="3600" dirty="0" smtClean="0"/>
              <a:t>KPI Lab</a:t>
            </a:r>
          </a:p>
          <a:p>
            <a:pPr>
              <a:buFontTx/>
              <a:buChar char="-"/>
            </a:pPr>
            <a:r>
              <a:rPr lang="en-US" sz="3600" dirty="0" smtClean="0"/>
              <a:t>Reports</a:t>
            </a:r>
          </a:p>
          <a:p>
            <a:pPr>
              <a:buFontTx/>
              <a:buChar char="-"/>
            </a:pPr>
            <a:r>
              <a:rPr lang="en-US" sz="3600" dirty="0" smtClean="0"/>
              <a:t>Notifications </a:t>
            </a:r>
          </a:p>
          <a:p>
            <a:pPr>
              <a:buFontTx/>
              <a:buChar char="-"/>
            </a:pPr>
            <a:r>
              <a:rPr lang="en-US" sz="3600" dirty="0" err="1" smtClean="0"/>
              <a:t>Softalarms</a:t>
            </a:r>
            <a:endParaRPr lang="en-US" sz="3600" dirty="0" smtClean="0"/>
          </a:p>
          <a:p>
            <a:pPr>
              <a:buFontTx/>
              <a:buChar char="-"/>
            </a:pPr>
            <a:endParaRPr lang="en-US" sz="3600" dirty="0" smtClean="0"/>
          </a:p>
          <a:p>
            <a:pPr marL="0" indent="0">
              <a:buNone/>
            </a:pPr>
            <a:r>
              <a:rPr lang="en-US" sz="3600" dirty="0" smtClean="0"/>
              <a:t>OPM intend to be friendly user and allow to add expansible modules, new reports, etc…</a:t>
            </a:r>
            <a:endParaRPr lang="es-MX" sz="3600" dirty="0" smtClean="0"/>
          </a:p>
          <a:p>
            <a:pPr>
              <a:buNone/>
            </a:pPr>
            <a:r>
              <a:rPr lang="en-US" sz="3600" dirty="0" smtClean="0"/>
              <a:t>	</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42025678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200" dirty="0"/>
              <a:t>Accounts</a:t>
            </a:r>
            <a:br>
              <a:rPr lang="en-US" sz="3200" dirty="0"/>
            </a:br>
            <a:r>
              <a:rPr lang="en-US" sz="3200" dirty="0"/>
              <a:t>In this module the final user has the possibility to manage user profile settings.</a:t>
            </a:r>
          </a:p>
          <a:p>
            <a:pPr>
              <a:buFontTx/>
              <a:buChar char="-"/>
            </a:pPr>
            <a:r>
              <a:rPr lang="en-US" sz="3200" dirty="0" smtClean="0"/>
              <a:t>Dashboards</a:t>
            </a:r>
            <a:br>
              <a:rPr lang="en-US" sz="3200" dirty="0" smtClean="0"/>
            </a:br>
            <a:r>
              <a:rPr lang="en-US" sz="3200" dirty="0" smtClean="0"/>
              <a:t>In this module the final user has the possibility to interact with different widgets (12/24 chart, KPI level, Number of nodes, Worst/Best nodes and last </a:t>
            </a:r>
            <a:r>
              <a:rPr lang="en-US" sz="3200" dirty="0" err="1" smtClean="0"/>
              <a:t>rop</a:t>
            </a:r>
            <a:r>
              <a:rPr lang="en-US" sz="3200" dirty="0" smtClean="0"/>
              <a:t> KPI), these widgets show KPI information. Also the </a:t>
            </a:r>
            <a:r>
              <a:rPr lang="en-US" sz="3200" dirty="0"/>
              <a:t>h</a:t>
            </a:r>
            <a:r>
              <a:rPr lang="en-US" sz="3200" dirty="0" smtClean="0"/>
              <a:t>as the possibility to export dashboards in PDF.</a:t>
            </a:r>
          </a:p>
          <a:p>
            <a:pPr>
              <a:buFontTx/>
              <a:buChar char="-"/>
            </a:pPr>
            <a:r>
              <a:rPr lang="es-MX" sz="3200" dirty="0" smtClean="0"/>
              <a:t>KPI </a:t>
            </a:r>
            <a:r>
              <a:rPr lang="es-MX" sz="3200" dirty="0" err="1" smtClean="0"/>
              <a:t>Lab</a:t>
            </a:r>
            <a:r>
              <a:rPr lang="es-MX" sz="3200" dirty="0" smtClean="0"/>
              <a:t/>
            </a:r>
            <a:br>
              <a:rPr lang="es-MX" sz="3200" dirty="0" smtClean="0"/>
            </a:br>
            <a:r>
              <a:rPr lang="en-US" sz="3200" dirty="0"/>
              <a:t>In this module the final user has the possibility to </a:t>
            </a:r>
            <a:r>
              <a:rPr lang="en-US" sz="3200" dirty="0" smtClean="0"/>
              <a:t>create custom KPI formulas.</a:t>
            </a:r>
          </a:p>
          <a:p>
            <a:pPr>
              <a:buFontTx/>
              <a:buChar char="-"/>
            </a:pPr>
            <a:r>
              <a:rPr lang="en-US" sz="3200" dirty="0" smtClean="0"/>
              <a:t>Reports</a:t>
            </a:r>
            <a:br>
              <a:rPr lang="en-US" sz="3200" dirty="0" smtClean="0"/>
            </a:br>
            <a:r>
              <a:rPr lang="en-US" sz="3200" dirty="0"/>
              <a:t>In this module the final user has the possibility to </a:t>
            </a:r>
            <a:r>
              <a:rPr lang="en-US" sz="3200" dirty="0" smtClean="0"/>
              <a:t>create reports from historical data and export them to CSV format.</a:t>
            </a:r>
          </a:p>
          <a:p>
            <a:pPr>
              <a:buFontTx/>
              <a:buChar char="-"/>
            </a:pPr>
            <a:r>
              <a:rPr lang="en-US" sz="3200" dirty="0" smtClean="0"/>
              <a:t>Loading monitor</a:t>
            </a:r>
            <a:r>
              <a:rPr lang="en-US" sz="3200" dirty="0"/>
              <a:t/>
            </a:r>
            <a:br>
              <a:rPr lang="en-US" sz="3200" dirty="0"/>
            </a:br>
            <a:r>
              <a:rPr lang="en-US" sz="3200" dirty="0"/>
              <a:t>In this module the final user has the possibility to </a:t>
            </a:r>
            <a:r>
              <a:rPr lang="en-US" sz="3200" dirty="0" smtClean="0"/>
              <a:t>see the data loading status for each KPI.</a:t>
            </a:r>
          </a:p>
          <a:p>
            <a:pPr>
              <a:buFontTx/>
              <a:buChar char="-"/>
            </a:pPr>
            <a:endParaRPr lang="en-US" sz="2800" dirty="0" smtClean="0"/>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1374087"/>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600" dirty="0"/>
              <a:t>Notifications</a:t>
            </a:r>
            <a:br>
              <a:rPr lang="en-US" sz="3600" dirty="0"/>
            </a:br>
            <a:r>
              <a:rPr lang="en-US" sz="3600" dirty="0"/>
              <a:t>In this module the final user has the possibility to make automatic monitoring the status of nodes/cells via notifications sent by email/</a:t>
            </a:r>
            <a:r>
              <a:rPr lang="en-US" sz="3600" dirty="0" err="1"/>
              <a:t>sms</a:t>
            </a:r>
            <a:r>
              <a:rPr lang="en-US" sz="3600" dirty="0"/>
              <a:t> or directly to any host.</a:t>
            </a:r>
          </a:p>
          <a:p>
            <a:pPr>
              <a:buFontTx/>
              <a:buChar char="-"/>
            </a:pPr>
            <a:r>
              <a:rPr lang="en-US" sz="3600" dirty="0" err="1"/>
              <a:t>Softalarms</a:t>
            </a:r>
            <a:r>
              <a:rPr lang="en-US" sz="3600" dirty="0"/>
              <a:t/>
            </a:r>
            <a:br>
              <a:rPr lang="en-US" sz="3600" dirty="0"/>
            </a:br>
            <a:r>
              <a:rPr lang="en-US" sz="3600" dirty="0"/>
              <a:t>In this module the final user has the possibility to create reports from OSS data and sent them as text file to any host.</a:t>
            </a:r>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75830391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smtClean="0"/>
              <a:t>User</a:t>
            </a:r>
            <a:r>
              <a:rPr lang="es-MX" sz="3600" b="1" dirty="0" smtClean="0"/>
              <a:t> </a:t>
            </a:r>
            <a:r>
              <a:rPr lang="es-MX" sz="3600" b="1" dirty="0" err="1" smtClean="0"/>
              <a:t>types</a:t>
            </a:r>
            <a:endParaRPr lang="es-MX" sz="3600" b="1" dirty="0" smtClean="0"/>
          </a:p>
          <a:p>
            <a:pPr>
              <a:buNone/>
            </a:pPr>
            <a:r>
              <a:rPr lang="en-US" sz="3600" dirty="0" smtClean="0"/>
              <a:t>The OPM will have </a:t>
            </a:r>
            <a:r>
              <a:rPr lang="en-US" sz="3600" dirty="0"/>
              <a:t>3</a:t>
            </a:r>
            <a:r>
              <a:rPr lang="en-US" sz="3600" dirty="0" smtClean="0"/>
              <a:t> user types</a:t>
            </a:r>
          </a:p>
          <a:p>
            <a:pPr>
              <a:buFontTx/>
              <a:buChar char="-"/>
            </a:pPr>
            <a:r>
              <a:rPr lang="en-US" sz="3600" dirty="0" smtClean="0"/>
              <a:t>Administrator</a:t>
            </a:r>
          </a:p>
          <a:p>
            <a:pPr>
              <a:buFontTx/>
              <a:buChar char="-"/>
            </a:pPr>
            <a:r>
              <a:rPr lang="en-US" sz="3600" dirty="0" smtClean="0"/>
              <a:t>Operator</a:t>
            </a:r>
          </a:p>
          <a:p>
            <a:pPr>
              <a:buFontTx/>
              <a:buChar char="-"/>
            </a:pPr>
            <a:r>
              <a:rPr lang="en-US" sz="3600" dirty="0" smtClean="0"/>
              <a:t>User</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03575695"/>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n-US" sz="3600" b="1" dirty="0" smtClean="0"/>
              <a:t>Regulatory policies</a:t>
            </a:r>
            <a:endParaRPr lang="en-US" sz="3600" dirty="0" smtClean="0"/>
          </a:p>
          <a:p>
            <a:pPr>
              <a:buNone/>
            </a:pPr>
            <a:r>
              <a:rPr lang="en-US" sz="3600" dirty="0" smtClean="0"/>
              <a:t>	The application will be developed by open license software </a:t>
            </a:r>
            <a:r>
              <a:rPr lang="es-MX" sz="3600" dirty="0" err="1" smtClean="0"/>
              <a:t>for</a:t>
            </a:r>
            <a:r>
              <a:rPr lang="es-MX" sz="3600" dirty="0" smtClean="0"/>
              <a:t> </a:t>
            </a:r>
            <a:r>
              <a:rPr lang="es-MX" sz="3600" dirty="0" err="1" smtClean="0"/>
              <a:t>this</a:t>
            </a:r>
            <a:r>
              <a:rPr lang="es-MX" sz="3600" dirty="0" smtClean="0"/>
              <a:t> </a:t>
            </a:r>
            <a:r>
              <a:rPr lang="es-MX" sz="3600" dirty="0" err="1" smtClean="0"/>
              <a:t>reason</a:t>
            </a:r>
            <a:r>
              <a:rPr lang="en-US" sz="3600" dirty="0" smtClean="0"/>
              <a:t> Intelma Consulting will not have to pay for the use of any freeware, therefore, the use of these programs will be done through the policies established by this type of licensing.</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61717594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s-MX" sz="3600" b="1" dirty="0" smtClean="0"/>
              <a:t>Hardware </a:t>
            </a:r>
            <a:r>
              <a:rPr lang="es-MX" sz="3600" b="1" dirty="0" err="1" smtClean="0"/>
              <a:t>Requirements</a:t>
            </a:r>
            <a:r>
              <a:rPr lang="es-MX" sz="3600" b="1" dirty="0" smtClean="0"/>
              <a:t>:</a:t>
            </a:r>
          </a:p>
          <a:p>
            <a:pPr marL="0" indent="0">
              <a:buNone/>
            </a:pPr>
            <a:r>
              <a:rPr lang="es-MX" sz="3600" dirty="0" err="1" smtClean="0"/>
              <a:t>Minimum</a:t>
            </a:r>
            <a:r>
              <a:rPr lang="es-MX" sz="3600" dirty="0" smtClean="0"/>
              <a:t> </a:t>
            </a:r>
            <a:r>
              <a:rPr lang="es-MX" sz="3600" dirty="0" err="1" smtClean="0"/>
              <a:t>requirements</a:t>
            </a:r>
            <a:endParaRPr lang="en-US" sz="3600" b="1" dirty="0" smtClean="0"/>
          </a:p>
          <a:p>
            <a:pPr>
              <a:buNone/>
            </a:pPr>
            <a:r>
              <a:rPr lang="en-US" sz="3600" dirty="0" smtClean="0"/>
              <a:t>	16 processors (cores and 32 threads) 2.5 GHz</a:t>
            </a:r>
            <a:br>
              <a:rPr lang="en-US" sz="3600" dirty="0" smtClean="0"/>
            </a:br>
            <a:r>
              <a:rPr lang="en-US" sz="3600" dirty="0" smtClean="0"/>
              <a:t>170 GB in RAM (DDR3)</a:t>
            </a:r>
            <a:br>
              <a:rPr lang="en-US" sz="3600" dirty="0" smtClean="0"/>
            </a:br>
            <a:r>
              <a:rPr lang="en-US" sz="3600" dirty="0" smtClean="0"/>
              <a:t>2 TBs on hard disk </a:t>
            </a:r>
            <a:r>
              <a:rPr lang="en-US" sz="3600" dirty="0"/>
              <a:t>(for operating system </a:t>
            </a:r>
            <a:r>
              <a:rPr lang="en-US" sz="3600" dirty="0" smtClean="0"/>
              <a:t>and storage of the BD)</a:t>
            </a:r>
          </a:p>
          <a:p>
            <a:pPr>
              <a:buNone/>
            </a:pPr>
            <a:r>
              <a:rPr lang="es-MX" sz="3600" dirty="0" err="1" smtClean="0"/>
              <a:t>Recommended</a:t>
            </a:r>
            <a:r>
              <a:rPr lang="es-MX" sz="3600" dirty="0" smtClean="0"/>
              <a:t> </a:t>
            </a:r>
            <a:r>
              <a:rPr lang="es-MX" sz="3600" dirty="0" err="1" smtClean="0"/>
              <a:t>requirements</a:t>
            </a:r>
            <a:endParaRPr lang="es-MX" sz="3600" dirty="0" smtClean="0"/>
          </a:p>
          <a:p>
            <a:pPr>
              <a:buNone/>
            </a:pPr>
            <a:r>
              <a:rPr lang="es-MX" sz="3600" dirty="0" smtClean="0"/>
              <a:t>	</a:t>
            </a:r>
            <a:r>
              <a:rPr lang="en-US" sz="3600" dirty="0"/>
              <a:t>16 processors (cores and 32 threads) 2.5 GHz</a:t>
            </a:r>
            <a:br>
              <a:rPr lang="en-US" sz="3600" dirty="0"/>
            </a:br>
            <a:r>
              <a:rPr lang="en-US" sz="3600" dirty="0" smtClean="0"/>
              <a:t>256 GB in RAM (DDR3)</a:t>
            </a:r>
            <a:br>
              <a:rPr lang="en-US" sz="3600" dirty="0" smtClean="0"/>
            </a:br>
            <a:r>
              <a:rPr lang="en-US" sz="3600" dirty="0"/>
              <a:t>5 TBs hard </a:t>
            </a:r>
            <a:r>
              <a:rPr lang="en-US" sz="3600" dirty="0" smtClean="0"/>
              <a:t>drive (for operating system and storage of the BD)</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54385518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2371313"/>
            <a:ext cx="22860000" cy="10188239"/>
          </a:xfrm>
          <a:prstGeom prst="rect">
            <a:avLst/>
          </a:prstGeom>
        </p:spPr>
        <p:txBody>
          <a:bodyPr>
            <a:noAutofit/>
          </a:bodyPr>
          <a:lstStyle/>
          <a:p>
            <a:pPr marL="0" indent="0">
              <a:buNone/>
            </a:pPr>
            <a:r>
              <a:rPr lang="es-MX" sz="3600" b="1" dirty="0" smtClean="0"/>
              <a:t>Software </a:t>
            </a:r>
            <a:r>
              <a:rPr lang="es-MX" sz="3600" b="1" dirty="0" err="1" smtClean="0"/>
              <a:t>Requirements</a:t>
            </a:r>
            <a:r>
              <a:rPr lang="es-MX" sz="3600" b="1" dirty="0" smtClean="0"/>
              <a:t>:</a:t>
            </a:r>
          </a:p>
          <a:p>
            <a:pPr marL="0" indent="0">
              <a:buNone/>
            </a:pPr>
            <a:r>
              <a:rPr lang="es-MX" sz="3600" b="1" dirty="0"/>
              <a:t>	</a:t>
            </a:r>
            <a:r>
              <a:rPr lang="es-MX" sz="3600" b="1" dirty="0" smtClean="0"/>
              <a:t>BE</a:t>
            </a:r>
          </a:p>
          <a:p>
            <a:pPr>
              <a:buNone/>
            </a:pPr>
            <a:r>
              <a:rPr lang="es-MX" sz="3600" dirty="0" smtClean="0"/>
              <a:t>	</a:t>
            </a:r>
            <a:r>
              <a:rPr lang="es-MX" sz="3600" dirty="0" err="1"/>
              <a:t>Operating</a:t>
            </a:r>
            <a:r>
              <a:rPr lang="es-MX" sz="3600" dirty="0"/>
              <a:t> </a:t>
            </a:r>
            <a:r>
              <a:rPr lang="es-MX" sz="3600" dirty="0" err="1"/>
              <a:t>System</a:t>
            </a:r>
            <a:r>
              <a:rPr lang="es-MX" sz="3600" dirty="0"/>
              <a:t> (</a:t>
            </a:r>
            <a:r>
              <a:rPr lang="es-MX" sz="3600" dirty="0" err="1"/>
              <a:t>CentOS</a:t>
            </a:r>
            <a:r>
              <a:rPr lang="es-MX" sz="3600" dirty="0"/>
              <a:t> 7)</a:t>
            </a:r>
            <a:br>
              <a:rPr lang="es-MX" sz="3600" dirty="0"/>
            </a:br>
            <a:r>
              <a:rPr lang="es-MX" sz="3600" dirty="0"/>
              <a:t>Cassandra 3.11</a:t>
            </a:r>
            <a:br>
              <a:rPr lang="es-MX" sz="3600" dirty="0"/>
            </a:br>
            <a:r>
              <a:rPr lang="es-MX" sz="3600" dirty="0" err="1"/>
              <a:t>Elasticsearch</a:t>
            </a:r>
            <a:r>
              <a:rPr lang="es-MX" sz="3600" dirty="0"/>
              <a:t> 6.1.2</a:t>
            </a:r>
            <a:br>
              <a:rPr lang="es-MX" sz="3600" dirty="0"/>
            </a:br>
            <a:r>
              <a:rPr lang="es-MX" sz="3600" dirty="0" err="1"/>
              <a:t>RabbitMQ</a:t>
            </a:r>
            <a:r>
              <a:rPr lang="es-MX" sz="3600" dirty="0"/>
              <a:t> 3.6</a:t>
            </a:r>
          </a:p>
          <a:p>
            <a:pPr lvl="1">
              <a:spcBef>
                <a:spcPts val="0"/>
              </a:spcBef>
              <a:buNone/>
            </a:pPr>
            <a:r>
              <a:rPr lang="es-MX" sz="3600" dirty="0"/>
              <a:t>Java 1.8u131 </a:t>
            </a:r>
            <a:r>
              <a:rPr lang="es-MX" sz="3600" dirty="0" smtClean="0"/>
              <a:t>64bits</a:t>
            </a:r>
          </a:p>
          <a:p>
            <a:pPr lvl="1">
              <a:spcBef>
                <a:spcPts val="0"/>
              </a:spcBef>
              <a:buNone/>
            </a:pPr>
            <a:endParaRPr lang="es-MX" sz="3600" dirty="0"/>
          </a:p>
          <a:p>
            <a:pPr lvl="1">
              <a:spcBef>
                <a:spcPts val="0"/>
              </a:spcBef>
              <a:buNone/>
            </a:pPr>
            <a:r>
              <a:rPr lang="es-MX" sz="3600" b="1" dirty="0"/>
              <a:t>F</a:t>
            </a:r>
            <a:r>
              <a:rPr lang="es-MX" sz="3600" b="1" dirty="0" smtClean="0"/>
              <a:t>E</a:t>
            </a:r>
            <a:endParaRPr lang="es-MX" sz="3600" dirty="0" smtClean="0"/>
          </a:p>
          <a:p>
            <a:pPr lvl="1">
              <a:spcBef>
                <a:spcPts val="0"/>
              </a:spcBef>
              <a:buNone/>
            </a:pPr>
            <a:r>
              <a:rPr lang="es-MX" sz="3600" dirty="0" smtClean="0"/>
              <a:t>Angular 4, </a:t>
            </a:r>
            <a:r>
              <a:rPr lang="es-MX" sz="3600" dirty="0" err="1" smtClean="0"/>
              <a:t>nodejs</a:t>
            </a:r>
            <a:r>
              <a:rPr lang="es-MX" sz="3600" dirty="0" smtClean="0"/>
              <a:t> 7.10</a:t>
            </a:r>
          </a:p>
          <a:p>
            <a:pPr lvl="1">
              <a:spcBef>
                <a:spcPts val="0"/>
              </a:spcBef>
              <a:buNone/>
            </a:pPr>
            <a:r>
              <a:rPr lang="en-US" sz="3600" dirty="0" err="1"/>
              <a:t>chartjs</a:t>
            </a:r>
            <a:r>
              <a:rPr lang="en-US" sz="3600" dirty="0" smtClean="0"/>
              <a:t>,</a:t>
            </a:r>
          </a:p>
          <a:p>
            <a:pPr lvl="1">
              <a:spcBef>
                <a:spcPts val="0"/>
              </a:spcBef>
              <a:buNone/>
            </a:pPr>
            <a:r>
              <a:rPr lang="es-MX" sz="3600" dirty="0"/>
              <a:t>angular-</a:t>
            </a:r>
            <a:r>
              <a:rPr lang="es-MX" sz="3600" dirty="0" err="1"/>
              <a:t>moment</a:t>
            </a:r>
            <a:r>
              <a:rPr lang="es-MX" sz="3600" dirty="0"/>
              <a:t> </a:t>
            </a:r>
            <a:endParaRPr lang="en-US" sz="3600" dirty="0" smtClean="0"/>
          </a:p>
          <a:p>
            <a:pPr lvl="1">
              <a:spcBef>
                <a:spcPts val="0"/>
              </a:spcBef>
              <a:buNone/>
            </a:pPr>
            <a:r>
              <a:rPr lang="en-US" sz="3600" dirty="0" smtClean="0"/>
              <a:t>file-saver</a:t>
            </a:r>
          </a:p>
          <a:p>
            <a:pPr lvl="1">
              <a:spcBef>
                <a:spcPts val="0"/>
              </a:spcBef>
              <a:buNone/>
            </a:pPr>
            <a:r>
              <a:rPr lang="en-US" sz="3600" dirty="0" smtClean="0"/>
              <a:t>Json2cvs</a:t>
            </a:r>
          </a:p>
          <a:p>
            <a:pPr lvl="1">
              <a:spcBef>
                <a:spcPts val="0"/>
              </a:spcBef>
              <a:buNone/>
            </a:pPr>
            <a:r>
              <a:rPr lang="en-US" sz="3600" dirty="0" smtClean="0"/>
              <a:t>Angular </a:t>
            </a:r>
            <a:r>
              <a:rPr lang="en-US" sz="3600" dirty="0" err="1" smtClean="0"/>
              <a:t>Matirial</a:t>
            </a:r>
            <a:endParaRPr lang="en-US" sz="3600" dirty="0" smtClean="0"/>
          </a:p>
          <a:p>
            <a:pPr lvl="1">
              <a:spcBef>
                <a:spcPts val="0"/>
              </a:spcBef>
              <a:buNone/>
            </a:pPr>
            <a:r>
              <a:rPr lang="es-MX" sz="3600" dirty="0" err="1"/>
              <a:t>nginx</a:t>
            </a:r>
            <a:r>
              <a:rPr lang="es-MX" sz="3600" dirty="0"/>
              <a:t> </a:t>
            </a:r>
            <a:r>
              <a:rPr lang="es-MX" sz="3600" dirty="0" smtClean="0"/>
              <a:t>1.13.5-1 (Server)</a:t>
            </a:r>
            <a:endParaRPr lang="es-MX" sz="3600" dirty="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26298126"/>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BE:</a:t>
            </a:r>
            <a:endParaRPr lang="es-MX" sz="3600" b="1" dirty="0"/>
          </a:p>
          <a:p>
            <a:pPr>
              <a:buNone/>
            </a:pPr>
            <a:r>
              <a:rPr lang="es-MX" sz="3600" b="1" dirty="0"/>
              <a:t>	</a:t>
            </a:r>
            <a:endParaRPr lang="es-MX" sz="3600" b="1" dirty="0" smtClean="0"/>
          </a:p>
          <a:p>
            <a:pPr>
              <a:buNone/>
            </a:pPr>
            <a:r>
              <a:rPr lang="es-MX" sz="3600" b="1" dirty="0"/>
              <a:t>	</a:t>
            </a:r>
            <a:r>
              <a:rPr lang="en-US" sz="3600" dirty="0" smtClean="0"/>
              <a:t>Fixed IP public (preferably)</a:t>
            </a:r>
            <a:br>
              <a:rPr lang="en-US" sz="3600" dirty="0" smtClean="0"/>
            </a:br>
            <a:r>
              <a:rPr lang="en-US" sz="3600" dirty="0" smtClean="0"/>
              <a:t>Internet access to install dependencies</a:t>
            </a:r>
            <a:br>
              <a:rPr lang="en-US" sz="3600" dirty="0" smtClean="0"/>
            </a:br>
            <a:r>
              <a:rPr lang="en-US" sz="3600" dirty="0" smtClean="0"/>
              <a:t>Root permissions for port, firewall and service configurations</a:t>
            </a:r>
            <a:endParaRPr lang="es-MX" sz="3600" b="1" dirty="0" smtClean="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07624713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FE:</a:t>
            </a:r>
          </a:p>
          <a:p>
            <a:pPr>
              <a:buNone/>
            </a:pPr>
            <a:r>
              <a:rPr lang="es-MX" sz="3600" b="1" dirty="0" smtClean="0"/>
              <a:t>Browser 				</a:t>
            </a:r>
            <a:r>
              <a:rPr lang="es-MX" sz="3600" b="1" dirty="0" err="1" smtClean="0"/>
              <a:t>Supported</a:t>
            </a:r>
            <a:r>
              <a:rPr lang="es-MX" sz="3600" b="1" dirty="0" smtClean="0"/>
              <a:t> </a:t>
            </a:r>
            <a:r>
              <a:rPr lang="es-MX" sz="3600" b="1" dirty="0" err="1"/>
              <a:t>versions</a:t>
            </a:r>
            <a:endParaRPr lang="es-MX" sz="3600" b="1" dirty="0"/>
          </a:p>
          <a:p>
            <a:pPr>
              <a:buNone/>
            </a:pPr>
            <a:r>
              <a:rPr lang="es-MX" sz="3600" dirty="0" err="1" smtClean="0"/>
              <a:t>Chrome</a:t>
            </a:r>
            <a:r>
              <a:rPr lang="es-MX" sz="3600" dirty="0" smtClean="0"/>
              <a:t>, Firefox			</a:t>
            </a:r>
            <a:r>
              <a:rPr lang="es-MX" sz="3600" dirty="0" err="1" smtClean="0"/>
              <a:t>latest</a:t>
            </a:r>
            <a:endParaRPr lang="es-MX" sz="3600" dirty="0" smtClean="0"/>
          </a:p>
          <a:p>
            <a:pPr>
              <a:buNone/>
            </a:pPr>
            <a:r>
              <a:rPr lang="es-MX" sz="3600" dirty="0" err="1" smtClean="0"/>
              <a:t>Edge</a:t>
            </a:r>
            <a:r>
              <a:rPr lang="es-MX" sz="3600" dirty="0" smtClean="0"/>
              <a:t>					</a:t>
            </a:r>
            <a:r>
              <a:rPr lang="en-US" sz="3600" dirty="0"/>
              <a:t>2 most recent major versions</a:t>
            </a:r>
          </a:p>
          <a:p>
            <a:pPr>
              <a:buNone/>
            </a:pPr>
            <a:r>
              <a:rPr lang="es-MX" sz="3600" dirty="0" smtClean="0"/>
              <a:t>IE							11</a:t>
            </a:r>
            <a:endParaRPr lang="es-MX" sz="3600" dirty="0"/>
          </a:p>
          <a:p>
            <a:pPr>
              <a:buNone/>
            </a:pPr>
            <a:endParaRPr lang="es-MX" sz="3600" dirty="0"/>
          </a:p>
          <a:p>
            <a:pPr>
              <a:buNone/>
            </a:pPr>
            <a:endParaRPr lang="es-MX" sz="3600" dirty="0"/>
          </a:p>
          <a:p>
            <a:pPr>
              <a:buNone/>
            </a:pPr>
            <a:endParaRPr lang="es-MX" sz="3600" dirty="0"/>
          </a:p>
          <a:p>
            <a:pPr>
              <a:buNone/>
            </a:pPr>
            <a:endParaRPr lang="es-MX" sz="3600" b="1" dirty="0"/>
          </a:p>
          <a:p>
            <a:pPr>
              <a:buNone/>
            </a:pPr>
            <a:endParaRPr lang="es-MX" sz="3600" b="1" dirty="0"/>
          </a:p>
          <a:p>
            <a:pPr>
              <a:buNone/>
            </a:pPr>
            <a:r>
              <a:rPr lang="es-MX" sz="3600" b="1" dirty="0"/>
              <a:t>	</a:t>
            </a: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18424643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smtClean="0"/>
              <a:t>This is the basic composition of team:</a:t>
            </a:r>
          </a:p>
          <a:p>
            <a:pPr marL="0" indent="0">
              <a:buNone/>
            </a:pPr>
            <a:r>
              <a:rPr lang="en-US" sz="3600" dirty="0" smtClean="0"/>
              <a:t>	- Software Architect - Pablo Gonzalez </a:t>
            </a:r>
            <a:r>
              <a:rPr lang="en-US" sz="3600" dirty="0" smtClean="0">
                <a:hlinkClick r:id="rId2"/>
              </a:rPr>
              <a:t>pablo.ramirez@intelmas.com</a:t>
            </a:r>
            <a:r>
              <a:rPr lang="en-US" sz="3600" dirty="0" smtClean="0"/>
              <a:t> </a:t>
            </a:r>
            <a:endParaRPr lang="es-ES" sz="3600" dirty="0" smtClean="0"/>
          </a:p>
          <a:p>
            <a:pPr marL="0" indent="0">
              <a:buNone/>
            </a:pPr>
            <a:r>
              <a:rPr lang="en-US" sz="3600" dirty="0" smtClean="0"/>
              <a:t>	- BE developer - </a:t>
            </a:r>
            <a:r>
              <a:rPr lang="en-US" sz="3600" dirty="0" err="1" smtClean="0"/>
              <a:t>Brayant</a:t>
            </a:r>
            <a:r>
              <a:rPr lang="en-US" sz="3600" dirty="0" smtClean="0"/>
              <a:t> Monroy </a:t>
            </a:r>
            <a:r>
              <a:rPr lang="en-US" sz="3600" dirty="0" smtClean="0">
                <a:hlinkClick r:id="rId3"/>
              </a:rPr>
              <a:t>brayant.mejia@intelmas.com</a:t>
            </a:r>
            <a:r>
              <a:rPr lang="en-US" sz="3600" dirty="0"/>
              <a:t> </a:t>
            </a:r>
            <a:endParaRPr lang="en-US" sz="3600" dirty="0" smtClean="0"/>
          </a:p>
          <a:p>
            <a:pPr marL="0" indent="0">
              <a:buNone/>
            </a:pPr>
            <a:r>
              <a:rPr lang="en-US" sz="3600" dirty="0"/>
              <a:t>	</a:t>
            </a:r>
            <a:r>
              <a:rPr lang="en-US" sz="3600" dirty="0" smtClean="0"/>
              <a:t>- Administrator/BE developer – Cesar Corona </a:t>
            </a:r>
            <a:r>
              <a:rPr lang="en-US" sz="3600" dirty="0" smtClean="0">
                <a:hlinkClick r:id="rId4"/>
              </a:rPr>
              <a:t>cesar.corona@intelmas.com</a:t>
            </a:r>
            <a:r>
              <a:rPr lang="en-US" sz="3600" dirty="0" smtClean="0"/>
              <a:t> </a:t>
            </a:r>
          </a:p>
          <a:p>
            <a:pPr marL="0" indent="0">
              <a:buNone/>
            </a:pPr>
            <a:r>
              <a:rPr lang="en-US" sz="3600" dirty="0"/>
              <a:t>	</a:t>
            </a:r>
            <a:r>
              <a:rPr lang="en-US" sz="3600" dirty="0" smtClean="0"/>
              <a:t>- FE developer – Martin Rodriguez </a:t>
            </a:r>
            <a:r>
              <a:rPr lang="en-US" sz="3600" dirty="0" smtClean="0">
                <a:hlinkClick r:id="rId5"/>
              </a:rPr>
              <a:t>martin.rodriguez@intelmas.com</a:t>
            </a:r>
            <a:endParaRPr lang="en-US" sz="3600" dirty="0" smtClean="0"/>
          </a:p>
          <a:p>
            <a:pPr marL="0" indent="0">
              <a:buNone/>
            </a:pPr>
            <a:r>
              <a:rPr lang="en-US" sz="3600" dirty="0"/>
              <a:t>	</a:t>
            </a:r>
            <a:r>
              <a:rPr lang="en-US" sz="3600" dirty="0" smtClean="0"/>
              <a:t>- Tester – Alfreddy Hutabarat </a:t>
            </a:r>
            <a:r>
              <a:rPr lang="en-US" sz="3600" dirty="0" smtClean="0">
                <a:hlinkClick r:id="rId6"/>
              </a:rPr>
              <a:t>alfreddy.baringin@intelmas.com</a:t>
            </a:r>
            <a:r>
              <a:rPr lang="en-US" sz="3600" dirty="0"/>
              <a:t> </a:t>
            </a:r>
            <a:endParaRPr lang="en-US" sz="3600" b="1" dirty="0" smtClean="0"/>
          </a:p>
          <a:p>
            <a:pPr marL="0" indent="0">
              <a:buNone/>
            </a:pPr>
            <a:endParaRPr lang="en-US" sz="3600" dirty="0" smtClean="0"/>
          </a:p>
          <a:p>
            <a:pPr marL="0" indent="0">
              <a:buNone/>
            </a:pPr>
            <a:endParaRPr lang="en-US" sz="3600" dirty="0" smtClean="0"/>
          </a:p>
        </p:txBody>
      </p:sp>
      <p:pic>
        <p:nvPicPr>
          <p:cNvPr id="5" name="Shape 249"/>
          <p:cNvPicPr preferRelativeResize="0"/>
          <p:nvPr/>
        </p:nvPicPr>
        <p:blipFill>
          <a:blip r:embed="rId7">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9620745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a:t>The estimate cost in hours are:</a:t>
            </a:r>
          </a:p>
          <a:p>
            <a:pPr marL="0" indent="0">
              <a:buNone/>
            </a:pPr>
            <a:r>
              <a:rPr lang="en-US" sz="3600" dirty="0"/>
              <a:t>	- </a:t>
            </a:r>
            <a:r>
              <a:rPr lang="en-US" sz="3600" dirty="0" smtClean="0"/>
              <a:t>SA – </a:t>
            </a:r>
            <a:r>
              <a:rPr lang="es-ES" sz="3600" dirty="0" smtClean="0"/>
              <a:t>60 </a:t>
            </a:r>
            <a:r>
              <a:rPr lang="es-ES" sz="3600" dirty="0" err="1" smtClean="0"/>
              <a:t>days</a:t>
            </a:r>
            <a:r>
              <a:rPr lang="es-ES" sz="3600" dirty="0" smtClean="0"/>
              <a:t> at 100</a:t>
            </a:r>
            <a:r>
              <a:rPr lang="es-ES" sz="3600" dirty="0"/>
              <a:t>%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smtClean="0">
                <a:sym typeface="Wingdings" panose="05000000000000000000" pitchFamily="2" charset="2"/>
              </a:rPr>
              <a:t>	</a:t>
            </a:r>
            <a:r>
              <a:rPr lang="en-US" sz="3600" dirty="0" smtClean="0"/>
              <a:t>- 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a:sym typeface="Wingdings" panose="05000000000000000000" pitchFamily="2" charset="2"/>
              </a:rPr>
              <a:t>	</a:t>
            </a:r>
            <a:r>
              <a:rPr lang="es-ES" sz="3600" dirty="0" smtClean="0">
                <a:sym typeface="Wingdings" panose="05000000000000000000" pitchFamily="2" charset="2"/>
              </a:rPr>
              <a:t>- </a:t>
            </a:r>
            <a:r>
              <a:rPr lang="es-ES" sz="3600" dirty="0" err="1" smtClean="0">
                <a:sym typeface="Wingdings" panose="05000000000000000000" pitchFamily="2" charset="2"/>
              </a:rPr>
              <a:t>Admin</a:t>
            </a:r>
            <a:r>
              <a:rPr lang="es-ES" sz="3600" dirty="0" smtClean="0">
                <a:sym typeface="Wingdings" panose="05000000000000000000" pitchFamily="2" charset="2"/>
              </a:rPr>
              <a:t>/BE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endParaRPr lang="es-ES" sz="3600" dirty="0"/>
          </a:p>
          <a:p>
            <a:pPr marL="0" indent="0">
              <a:buNone/>
            </a:pPr>
            <a:r>
              <a:rPr lang="es-ES" sz="3600" dirty="0" smtClean="0"/>
              <a:t>	</a:t>
            </a:r>
            <a:r>
              <a:rPr lang="en-US" sz="3600" dirty="0"/>
              <a:t>- </a:t>
            </a:r>
            <a:r>
              <a:rPr lang="en-US" sz="3600" dirty="0" smtClean="0"/>
              <a:t>FE </a:t>
            </a:r>
            <a:r>
              <a:rPr lang="en-US" sz="3600" dirty="0"/>
              <a:t>– </a:t>
            </a:r>
            <a:r>
              <a:rPr lang="es-ES" sz="3600" dirty="0"/>
              <a:t>60 </a:t>
            </a:r>
            <a:r>
              <a:rPr lang="es-ES" sz="3600" dirty="0" err="1"/>
              <a:t>days</a:t>
            </a:r>
            <a:r>
              <a:rPr lang="es-ES" sz="3600" dirty="0"/>
              <a:t> at </a:t>
            </a:r>
            <a:r>
              <a:rPr lang="es-ES" sz="3600" dirty="0" smtClean="0"/>
              <a:t>50% </a:t>
            </a:r>
            <a:r>
              <a:rPr lang="es-ES" sz="3600" dirty="0">
                <a:sym typeface="Wingdings" panose="05000000000000000000" pitchFamily="2" charset="2"/>
              </a:rPr>
              <a:t> </a:t>
            </a:r>
            <a:r>
              <a:rPr lang="es-ES" sz="3600" dirty="0" smtClean="0">
                <a:sym typeface="Wingdings" panose="05000000000000000000" pitchFamily="2" charset="2"/>
              </a:rPr>
              <a:t>240hrs</a:t>
            </a:r>
            <a:r>
              <a:rPr lang="es-ES" sz="3600" dirty="0" smtClean="0"/>
              <a:t>	</a:t>
            </a:r>
          </a:p>
          <a:p>
            <a:pPr marL="0" indent="0">
              <a:buNone/>
            </a:pPr>
            <a:r>
              <a:rPr lang="es-ES" sz="3600" dirty="0"/>
              <a:t>	</a:t>
            </a:r>
            <a:r>
              <a:rPr lang="es-ES" sz="3600" dirty="0" smtClean="0"/>
              <a:t>- </a:t>
            </a:r>
            <a:r>
              <a:rPr lang="es-ES" sz="3600" dirty="0" err="1" smtClean="0"/>
              <a:t>Tester</a:t>
            </a:r>
            <a:r>
              <a:rPr lang="es-ES" sz="3600" dirty="0" smtClean="0"/>
              <a:t> – 20 </a:t>
            </a:r>
            <a:r>
              <a:rPr lang="es-ES" sz="3600" dirty="0" err="1" smtClean="0"/>
              <a:t>days</a:t>
            </a:r>
            <a:r>
              <a:rPr lang="es-ES" sz="3600" dirty="0" smtClean="0"/>
              <a:t> 50% </a:t>
            </a:r>
            <a:r>
              <a:rPr lang="es-ES" sz="3600" dirty="0">
                <a:sym typeface="Wingdings" panose="05000000000000000000" pitchFamily="2" charset="2"/>
              </a:rPr>
              <a:t></a:t>
            </a:r>
            <a:r>
              <a:rPr lang="es-ES" sz="3600" dirty="0" smtClean="0"/>
              <a:t> 80hrs</a:t>
            </a:r>
            <a:endParaRPr lang="en-US" sz="3600" dirty="0" smtClean="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6622264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Follow</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up</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and</a:t>
            </a:r>
            <a:r>
              <a:rPr lang="pt-BR" sz="6873" dirty="0" smtClean="0">
                <a:solidFill>
                  <a:srgbClr val="00B0F0"/>
                </a:solidFill>
                <a:latin typeface="Arial Black"/>
                <a:ea typeface="Arial Black"/>
                <a:cs typeface="Arial Black"/>
                <a:sym typeface="Avenir Next Medium"/>
              </a:rPr>
              <a:t> feedback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Weekly Progress Report</a:t>
            </a:r>
          </a:p>
          <a:p>
            <a:pPr marL="0" indent="0">
              <a:buNone/>
            </a:pPr>
            <a:r>
              <a:rPr lang="en-US" sz="3600" dirty="0"/>
              <a:t>	</a:t>
            </a:r>
            <a:r>
              <a:rPr lang="en-US" sz="3600" dirty="0" smtClean="0"/>
              <a:t>- Status of Activities</a:t>
            </a:r>
          </a:p>
          <a:p>
            <a:pPr marL="0" indent="0">
              <a:buNone/>
            </a:pPr>
            <a:r>
              <a:rPr lang="en-US" sz="3600" dirty="0"/>
              <a:t>	</a:t>
            </a:r>
            <a:r>
              <a:rPr lang="en-US" sz="3600" dirty="0" smtClean="0"/>
              <a:t>- Update slide 3</a:t>
            </a:r>
          </a:p>
          <a:p>
            <a:pPr marL="0" indent="0">
              <a:buNone/>
            </a:pPr>
            <a:r>
              <a:rPr lang="en-US" sz="3600" b="1" dirty="0" smtClean="0"/>
              <a:t>Weekly Meeting with:</a:t>
            </a:r>
          </a:p>
          <a:p>
            <a:pPr marL="0" indent="0">
              <a:buNone/>
            </a:pPr>
            <a:r>
              <a:rPr lang="en-US" sz="3600" dirty="0"/>
              <a:t>	</a:t>
            </a:r>
            <a:r>
              <a:rPr lang="en-US" sz="3600" dirty="0" smtClean="0"/>
              <a:t>- Team members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961063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Needs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Get correct raw data for 3G/4G technologies.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84251057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consideration</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248488"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Time plan depends of project needs and other unexpected situations.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4671610"/>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asted-image.pdf" descr="pasted-image.pdf"/>
          <p:cNvPicPr>
            <a:picLocks noChangeAspect="1"/>
          </p:cNvPicPr>
          <p:nvPr/>
        </p:nvPicPr>
        <p:blipFill>
          <a:blip r:embed="rId2">
            <a:extLst/>
          </a:blip>
          <a:stretch>
            <a:fillRect/>
          </a:stretch>
        </p:blipFill>
        <p:spPr>
          <a:xfrm>
            <a:off x="-14010" y="-19007"/>
            <a:ext cx="24412021" cy="15179718"/>
          </a:xfrm>
          <a:prstGeom prst="rect">
            <a:avLst/>
          </a:prstGeom>
          <a:ln w="12700">
            <a:miter lim="400000"/>
          </a:ln>
        </p:spPr>
      </p:pic>
      <p:sp>
        <p:nvSpPr>
          <p:cNvPr id="206" name="Gracias"/>
          <p:cNvSpPr/>
          <p:nvPr/>
        </p:nvSpPr>
        <p:spPr>
          <a:xfrm>
            <a:off x="9983863" y="4133150"/>
            <a:ext cx="4416274" cy="1333698"/>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8000">
                <a:solidFill>
                  <a:srgbClr val="FFFFFF"/>
                </a:solidFill>
              </a:defRPr>
            </a:lvl1pPr>
          </a:lstStyle>
          <a:p>
            <a:r>
              <a:rPr lang="es-MX" dirty="0" err="1"/>
              <a:t>Thank</a:t>
            </a:r>
            <a:r>
              <a:rPr lang="es-MX" dirty="0"/>
              <a:t> </a:t>
            </a:r>
            <a:r>
              <a:rPr lang="es-MX" dirty="0" err="1"/>
              <a:t>you</a:t>
            </a:r>
            <a:endParaRPr dirty="0"/>
          </a:p>
        </p:txBody>
      </p:sp>
      <p:sp>
        <p:nvSpPr>
          <p:cNvPr id="207" name="Canadá…"/>
          <p:cNvSpPr/>
          <p:nvPr/>
        </p:nvSpPr>
        <p:spPr>
          <a:xfrm>
            <a:off x="2987491" y="7376232"/>
            <a:ext cx="7444838" cy="448084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err="1"/>
              <a:t>Canadá</a:t>
            </a:r>
            <a:endParaRPr dirty="0"/>
          </a:p>
          <a:p>
            <a:pPr>
              <a:defRPr sz="3600">
                <a:solidFill>
                  <a:srgbClr val="FFFFFF"/>
                </a:solidFill>
                <a:latin typeface="Arial"/>
                <a:ea typeface="Arial"/>
                <a:cs typeface="Arial"/>
                <a:sym typeface="Arial"/>
              </a:defRPr>
            </a:pPr>
            <a:r>
              <a:rPr dirty="0"/>
              <a:t>866 Place Simon, Saint Laurent</a:t>
            </a:r>
          </a:p>
          <a:p>
            <a:pPr>
              <a:defRPr sz="3600">
                <a:solidFill>
                  <a:srgbClr val="FFFFFF"/>
                </a:solidFill>
                <a:latin typeface="Arial"/>
                <a:ea typeface="Arial"/>
                <a:cs typeface="Arial"/>
                <a:sym typeface="Arial"/>
              </a:defRPr>
            </a:pPr>
            <a:r>
              <a:rPr dirty="0"/>
              <a:t>Canada H4M 2W2</a:t>
            </a:r>
          </a:p>
          <a:p>
            <a:pPr>
              <a:defRPr sz="3600">
                <a:solidFill>
                  <a:srgbClr val="FFFFFF"/>
                </a:solidFill>
                <a:latin typeface="Arial"/>
                <a:ea typeface="Arial"/>
                <a:cs typeface="Arial"/>
                <a:sym typeface="Arial"/>
              </a:defRPr>
            </a:pPr>
            <a:r>
              <a:rPr dirty="0"/>
              <a:t>+1514 564 3243</a:t>
            </a:r>
          </a:p>
        </p:txBody>
      </p:sp>
      <p:sp>
        <p:nvSpPr>
          <p:cNvPr id="208" name="Ciudad de México…"/>
          <p:cNvSpPr/>
          <p:nvPr/>
        </p:nvSpPr>
        <p:spPr>
          <a:xfrm>
            <a:off x="14315307" y="7109532"/>
            <a:ext cx="8158673" cy="501424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a:t>Ciudad de México</a:t>
            </a:r>
          </a:p>
          <a:p>
            <a:pPr>
              <a:defRPr sz="3600">
                <a:solidFill>
                  <a:srgbClr val="FFFFFF"/>
                </a:solidFill>
                <a:latin typeface="Arial"/>
                <a:ea typeface="Arial"/>
                <a:cs typeface="Arial"/>
                <a:sym typeface="Arial"/>
              </a:defRPr>
            </a:pPr>
            <a:r>
              <a:rPr dirty="0"/>
              <a:t>Av. </a:t>
            </a:r>
            <a:r>
              <a:rPr dirty="0" err="1"/>
              <a:t>Ejercito</a:t>
            </a:r>
            <a:r>
              <a:rPr dirty="0"/>
              <a:t> </a:t>
            </a:r>
            <a:r>
              <a:rPr dirty="0" err="1"/>
              <a:t>Nacional</a:t>
            </a:r>
            <a:r>
              <a:rPr dirty="0"/>
              <a:t> No. 505 – 1003</a:t>
            </a:r>
          </a:p>
          <a:p>
            <a:pPr>
              <a:defRPr sz="3600">
                <a:solidFill>
                  <a:srgbClr val="FFFFFF"/>
                </a:solidFill>
                <a:latin typeface="Arial"/>
                <a:ea typeface="Arial"/>
                <a:cs typeface="Arial"/>
                <a:sym typeface="Arial"/>
              </a:defRPr>
            </a:pPr>
            <a:r>
              <a:rPr dirty="0"/>
              <a:t>Col. </a:t>
            </a:r>
            <a:r>
              <a:rPr dirty="0" err="1"/>
              <a:t>Ampliación</a:t>
            </a:r>
            <a:r>
              <a:rPr dirty="0"/>
              <a:t> Granada, Ciudad de México</a:t>
            </a:r>
          </a:p>
          <a:p>
            <a:pPr>
              <a:defRPr sz="3600">
                <a:solidFill>
                  <a:srgbClr val="FFFFFF"/>
                </a:solidFill>
                <a:latin typeface="Arial"/>
                <a:ea typeface="Arial"/>
                <a:cs typeface="Arial"/>
                <a:sym typeface="Arial"/>
              </a:defRPr>
            </a:pPr>
            <a:r>
              <a:rPr dirty="0"/>
              <a:t>+52 55 65 88 99 23</a:t>
            </a:r>
          </a:p>
        </p:txBody>
      </p:sp>
      <p:pic>
        <p:nvPicPr>
          <p:cNvPr id="209" name="logo.png" descr="logo.png"/>
          <p:cNvPicPr>
            <a:picLocks noChangeAspect="1"/>
          </p:cNvPicPr>
          <p:nvPr/>
        </p:nvPicPr>
        <p:blipFill>
          <a:blip r:embed="rId3">
            <a:extLst/>
          </a:blip>
          <a:stretch>
            <a:fillRect/>
          </a:stretch>
        </p:blipFill>
        <p:spPr>
          <a:xfrm>
            <a:off x="9114296" y="789572"/>
            <a:ext cx="6155408" cy="3005571"/>
          </a:xfrm>
          <a:prstGeom prst="rect">
            <a:avLst/>
          </a:prstGeom>
          <a:ln w="12700">
            <a:miter lim="400000"/>
          </a:ln>
        </p:spPr>
      </p:pic>
      <p:sp>
        <p:nvSpPr>
          <p:cNvPr id="210" name="intelmas.com"/>
          <p:cNvSpPr/>
          <p:nvPr/>
        </p:nvSpPr>
        <p:spPr>
          <a:xfrm>
            <a:off x="10967656" y="12611883"/>
            <a:ext cx="3949799" cy="656590"/>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u="sng">
                <a:solidFill>
                  <a:srgbClr val="FFFFFF"/>
                </a:solidFill>
                <a:hlinkClick r:id="rId4"/>
              </a:defRPr>
            </a:lvl1pPr>
          </a:lstStyle>
          <a:p>
            <a:pPr>
              <a:defRPr sz="3600">
                <a:solidFill>
                  <a:srgbClr val="FFFFFF"/>
                </a:solidFill>
                <a:latin typeface="Arial"/>
                <a:ea typeface="Arial"/>
                <a:cs typeface="Arial"/>
                <a:sym typeface="Arial"/>
              </a:defRPr>
            </a:pPr>
            <a:r>
              <a:rPr lang="pt-BR" sz="3600" u="none" dirty="0" err="1">
                <a:latin typeface="Arial"/>
                <a:ea typeface="Arial"/>
                <a:cs typeface="Arial"/>
              </a:rPr>
              <a:t>www</a:t>
            </a:r>
            <a:r>
              <a:rPr lang="pt-BR" sz="3600" u="none" dirty="0">
                <a:latin typeface="Arial"/>
                <a:ea typeface="Arial"/>
                <a:cs typeface="Arial"/>
              </a:rPr>
              <a:t>.</a:t>
            </a:r>
            <a:r>
              <a:rPr sz="3600" u="none" dirty="0">
                <a:latin typeface="Arial"/>
                <a:ea typeface="Arial"/>
                <a:cs typeface="Arial"/>
              </a:rPr>
              <a:t>intelmas.com</a:t>
            </a: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3439</TotalTime>
  <Words>670</Words>
  <Application>Microsoft Office PowerPoint</Application>
  <PresentationFormat>Personalizado</PresentationFormat>
  <Paragraphs>208</Paragraphs>
  <Slides>21</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21</vt:i4>
      </vt:variant>
    </vt:vector>
  </HeadingPairs>
  <TitlesOfParts>
    <vt:vector size="32" baseType="lpstr">
      <vt:lpstr>Arial</vt:lpstr>
      <vt:lpstr>Arial Black</vt:lpstr>
      <vt:lpstr>Avenir Next</vt:lpstr>
      <vt:lpstr>Avenir Next Medium</vt:lpstr>
      <vt:lpstr>Calibri</vt:lpstr>
      <vt:lpstr>DIN Alternate</vt:lpstr>
      <vt:lpstr>DIN Condensed</vt:lpstr>
      <vt:lpstr>Helvetica</vt:lpstr>
      <vt:lpstr>Helvetica Neue</vt:lpstr>
      <vt:lpstr>Wingdings</vt:lpstr>
      <vt:lpstr>New_Template7</vt:lpstr>
      <vt:lpstr>Presentación de PowerPoint</vt:lpstr>
      <vt:lpstr>Presentación de PowerPoint</vt:lpstr>
      <vt:lpstr>Summary – one page – W1</vt:lpstr>
      <vt:lpstr>What is OPM?</vt:lpstr>
      <vt:lpstr>benefits</vt:lpstr>
      <vt:lpstr>status of work</vt:lpstr>
      <vt:lpstr>Requisites</vt:lpstr>
      <vt:lpstr>Requisites</vt:lpstr>
      <vt:lpstr>Requisites</vt:lpstr>
      <vt:lpstr>Requisites</vt:lpstr>
      <vt:lpstr>Requisites</vt:lpstr>
      <vt:lpstr>Requisites</vt:lpstr>
      <vt:lpstr>Requisites</vt:lpstr>
      <vt:lpstr>Requisites</vt:lpstr>
      <vt:lpstr>Requisites</vt:lpstr>
      <vt:lpstr>Team composition &amp; Business case</vt:lpstr>
      <vt:lpstr>Team composition &amp; Business case</vt:lpstr>
      <vt:lpstr>Follow up and feedback</vt:lpstr>
      <vt:lpstr>Needs</vt:lpstr>
      <vt:lpstr>consideration</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Intelma</dc:creator>
  <cp:lastModifiedBy>Usuario</cp:lastModifiedBy>
  <cp:revision>97</cp:revision>
  <dcterms:modified xsi:type="dcterms:W3CDTF">2018-04-13T23:21:21Z</dcterms:modified>
</cp:coreProperties>
</file>